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ITC Motter Corpus Semicondensed" charset="1" panose="04020A05040802020202"/>
      <p:regular r:id="rId22"/>
    </p:embeddedFont>
    <p:embeddedFont>
      <p:font typeface="Montserrat Bold" charset="1" panose="00000800000000000000"/>
      <p:regular r:id="rId23"/>
    </p:embeddedFont>
    <p:embeddedFont>
      <p:font typeface="League Spartan" charset="1" panose="00000800000000000000"/>
      <p:regular r:id="rId24"/>
    </p:embeddedFont>
    <p:embeddedFont>
      <p:font typeface="Alata" charset="1" panose="00000500000000000000"/>
      <p:regular r:id="rId25"/>
    </p:embeddedFont>
    <p:embeddedFont>
      <p:font typeface="Montserrat" charset="1" panose="00000500000000000000"/>
      <p:regular r:id="rId26"/>
    </p:embeddedFont>
    <p:embeddedFont>
      <p:font typeface="Montserrat Ultra-Bold" charset="1" panose="00000900000000000000"/>
      <p:regular r:id="rId27"/>
    </p:embeddedFont>
    <p:embeddedFont>
      <p:font typeface="Bebas Neue Bold" charset="1" panose="020B0606020202050201"/>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11" Target="../media/image11.png" Type="http://schemas.openxmlformats.org/officeDocument/2006/relationships/image"/><Relationship Id="rId12" Target="../media/image12.png" Type="http://schemas.openxmlformats.org/officeDocument/2006/relationships/image"/><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23.pn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8.pn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8.png" Type="http://schemas.openxmlformats.org/officeDocument/2006/relationships/image"/><Relationship Id="rId5"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9.png" Type="http://schemas.openxmlformats.org/officeDocument/2006/relationships/image"/><Relationship Id="rId5"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30.png" Type="http://schemas.openxmlformats.org/officeDocument/2006/relationships/image"/><Relationship Id="rId5"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31.png" Type="http://schemas.openxmlformats.org/officeDocument/2006/relationships/image"/><Relationship Id="rId5"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32.png" Type="http://schemas.openxmlformats.org/officeDocument/2006/relationships/image"/><Relationship Id="rId5"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33.png" Type="http://schemas.openxmlformats.org/officeDocument/2006/relationships/image"/><Relationship Id="rId5"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34.png" Type="http://schemas.openxmlformats.org/officeDocument/2006/relationships/image"/><Relationship Id="rId5" Target="../media/image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897071" y="-906603"/>
            <a:ext cx="13737830" cy="9479103"/>
          </a:xfrm>
          <a:custGeom>
            <a:avLst/>
            <a:gdLst/>
            <a:ahLst/>
            <a:cxnLst/>
            <a:rect r="r" b="b" t="t" l="l"/>
            <a:pathLst>
              <a:path h="9479103" w="13737830">
                <a:moveTo>
                  <a:pt x="0" y="0"/>
                </a:moveTo>
                <a:lnTo>
                  <a:pt x="13737830" y="0"/>
                </a:lnTo>
                <a:lnTo>
                  <a:pt x="13737830" y="9479103"/>
                </a:lnTo>
                <a:lnTo>
                  <a:pt x="0" y="9479103"/>
                </a:lnTo>
                <a:lnTo>
                  <a:pt x="0" y="0"/>
                </a:lnTo>
                <a:close/>
              </a:path>
            </a:pathLst>
          </a:custGeom>
          <a:blipFill>
            <a:blip r:embed="rId2">
              <a:alphaModFix amt="31000"/>
            </a:blip>
            <a:stretch>
              <a:fillRect l="0" t="0" r="0" b="0"/>
            </a:stretch>
          </a:blipFill>
        </p:spPr>
      </p:sp>
      <p:grpSp>
        <p:nvGrpSpPr>
          <p:cNvPr name="Group 3" id="3"/>
          <p:cNvGrpSpPr/>
          <p:nvPr/>
        </p:nvGrpSpPr>
        <p:grpSpPr>
          <a:xfrm rot="-5400000">
            <a:off x="7727665" y="85408"/>
            <a:ext cx="2490636" cy="18630035"/>
            <a:chOff x="0" y="0"/>
            <a:chExt cx="655970" cy="4906676"/>
          </a:xfrm>
        </p:grpSpPr>
        <p:sp>
          <p:nvSpPr>
            <p:cNvPr name="Freeform 4" id="4"/>
            <p:cNvSpPr/>
            <p:nvPr/>
          </p:nvSpPr>
          <p:spPr>
            <a:xfrm flipH="false" flipV="false" rot="0">
              <a:off x="0" y="0"/>
              <a:ext cx="655970" cy="4906676"/>
            </a:xfrm>
            <a:custGeom>
              <a:avLst/>
              <a:gdLst/>
              <a:ahLst/>
              <a:cxnLst/>
              <a:rect r="r" b="b" t="t" l="l"/>
              <a:pathLst>
                <a:path h="4906676" w="655970">
                  <a:moveTo>
                    <a:pt x="0" y="0"/>
                  </a:moveTo>
                  <a:lnTo>
                    <a:pt x="655970" y="0"/>
                  </a:lnTo>
                  <a:lnTo>
                    <a:pt x="655970" y="4906676"/>
                  </a:lnTo>
                  <a:lnTo>
                    <a:pt x="0" y="4906676"/>
                  </a:lnTo>
                  <a:close/>
                </a:path>
              </a:pathLst>
            </a:custGeom>
            <a:solidFill>
              <a:srgbClr val="0CC0DF"/>
            </a:solidFill>
          </p:spPr>
        </p:sp>
        <p:sp>
          <p:nvSpPr>
            <p:cNvPr name="TextBox 5" id="5"/>
            <p:cNvSpPr txBox="true"/>
            <p:nvPr/>
          </p:nvSpPr>
          <p:spPr>
            <a:xfrm>
              <a:off x="0" y="-38100"/>
              <a:ext cx="655970" cy="494477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342035" y="9258300"/>
            <a:ext cx="1531460" cy="871623"/>
            <a:chOff x="0" y="0"/>
            <a:chExt cx="403348" cy="229563"/>
          </a:xfrm>
        </p:grpSpPr>
        <p:sp>
          <p:nvSpPr>
            <p:cNvPr name="Freeform 7" id="7"/>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172406"/>
            </a:solidFill>
          </p:spPr>
        </p:sp>
        <p:sp>
          <p:nvSpPr>
            <p:cNvPr name="TextBox 8" id="8"/>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8191263" y="517786"/>
            <a:ext cx="1905474" cy="1880666"/>
          </a:xfrm>
          <a:custGeom>
            <a:avLst/>
            <a:gdLst/>
            <a:ahLst/>
            <a:cxnLst/>
            <a:rect r="r" b="b" t="t" l="l"/>
            <a:pathLst>
              <a:path h="1880666" w="1905474">
                <a:moveTo>
                  <a:pt x="0" y="0"/>
                </a:moveTo>
                <a:lnTo>
                  <a:pt x="1905474" y="0"/>
                </a:lnTo>
                <a:lnTo>
                  <a:pt x="1905474" y="1880667"/>
                </a:lnTo>
                <a:lnTo>
                  <a:pt x="0" y="1880667"/>
                </a:lnTo>
                <a:lnTo>
                  <a:pt x="0" y="0"/>
                </a:lnTo>
                <a:close/>
              </a:path>
            </a:pathLst>
          </a:custGeom>
          <a:blipFill>
            <a:blip r:embed="rId3">
              <a:alphaModFix amt="87000"/>
            </a:blip>
            <a:stretch>
              <a:fillRect l="-6509" t="-6595" r="-6509" b="-7914"/>
            </a:stretch>
          </a:blipFill>
        </p:spPr>
      </p:sp>
      <p:sp>
        <p:nvSpPr>
          <p:cNvPr name="TextBox 10" id="10"/>
          <p:cNvSpPr txBox="true"/>
          <p:nvPr/>
        </p:nvSpPr>
        <p:spPr>
          <a:xfrm rot="0">
            <a:off x="2279941" y="2552937"/>
            <a:ext cx="14010598" cy="4634222"/>
          </a:xfrm>
          <a:prstGeom prst="rect">
            <a:avLst/>
          </a:prstGeom>
        </p:spPr>
        <p:txBody>
          <a:bodyPr anchor="t" rtlCol="false" tIns="0" lIns="0" bIns="0" rIns="0">
            <a:spAutoFit/>
          </a:bodyPr>
          <a:lstStyle/>
          <a:p>
            <a:pPr algn="ctr">
              <a:lnSpc>
                <a:spcPts val="6020"/>
              </a:lnSpc>
            </a:pPr>
            <a:r>
              <a:rPr lang="en-US" sz="4300" spc="249">
                <a:solidFill>
                  <a:srgbClr val="FFFFFF"/>
                </a:solidFill>
                <a:latin typeface="ITC Motter Corpus Semicondensed"/>
                <a:ea typeface="ITC Motter Corpus Semicondensed"/>
                <a:cs typeface="ITC Motter Corpus Semicondensed"/>
                <a:sym typeface="ITC Motter Corpus Semicondensed"/>
              </a:rPr>
              <a:t>AUTOVIBE ANALYTICS: STRATEGI MAKSIMALISASI JANGKAUAN PELUNCURAN PRODUK OTOMOTIF PADA PLATFORM TIKTOK MELALUI PEMETAAN SEMANTIK KATA TEMA SDGS: POIN 7 - ENERGI BERSIH DAN TERJANGKAU</a:t>
            </a:r>
          </a:p>
        </p:txBody>
      </p:sp>
      <p:sp>
        <p:nvSpPr>
          <p:cNvPr name="TextBox 11" id="11"/>
          <p:cNvSpPr txBox="true"/>
          <p:nvPr/>
        </p:nvSpPr>
        <p:spPr>
          <a:xfrm rot="0">
            <a:off x="161220" y="9299777"/>
            <a:ext cx="675384" cy="712470"/>
          </a:xfrm>
          <a:prstGeom prst="rect">
            <a:avLst/>
          </a:prstGeom>
        </p:spPr>
        <p:txBody>
          <a:bodyPr anchor="t" rtlCol="false" tIns="0" lIns="0" bIns="0" rIns="0">
            <a:spAutoFit/>
          </a:bodyPr>
          <a:lstStyle/>
          <a:p>
            <a:pPr algn="ctr">
              <a:lnSpc>
                <a:spcPts val="5880"/>
              </a:lnSpc>
            </a:pPr>
            <a:r>
              <a:rPr lang="en-US" b="true" sz="4200">
                <a:solidFill>
                  <a:srgbClr val="FFFFFF"/>
                </a:solidFill>
                <a:latin typeface="Montserrat Bold"/>
                <a:ea typeface="Montserrat Bold"/>
                <a:cs typeface="Montserrat Bold"/>
                <a:sym typeface="Montserrat Bold"/>
              </a:rPr>
              <a:t>1</a:t>
            </a:r>
          </a:p>
        </p:txBody>
      </p:sp>
      <p:sp>
        <p:nvSpPr>
          <p:cNvPr name="TextBox 12" id="12"/>
          <p:cNvSpPr txBox="true"/>
          <p:nvPr/>
        </p:nvSpPr>
        <p:spPr>
          <a:xfrm rot="0">
            <a:off x="4540180" y="8562975"/>
            <a:ext cx="9749982" cy="1381125"/>
          </a:xfrm>
          <a:prstGeom prst="rect">
            <a:avLst/>
          </a:prstGeom>
        </p:spPr>
        <p:txBody>
          <a:bodyPr anchor="t" rtlCol="false" tIns="0" lIns="0" bIns="0" rIns="0">
            <a:spAutoFit/>
          </a:bodyPr>
          <a:lstStyle/>
          <a:p>
            <a:pPr algn="ctr">
              <a:lnSpc>
                <a:spcPts val="3600"/>
              </a:lnSpc>
            </a:pPr>
            <a:r>
              <a:rPr lang="en-US" sz="3000" spc="434">
                <a:solidFill>
                  <a:srgbClr val="FFFFFF"/>
                </a:solidFill>
                <a:latin typeface="League Spartan"/>
                <a:ea typeface="League Spartan"/>
                <a:cs typeface="League Spartan"/>
                <a:sym typeface="League Spartan"/>
              </a:rPr>
              <a:t>PROGRAM STUDI S1 SISTEM INFORMASI</a:t>
            </a:r>
          </a:p>
          <a:p>
            <a:pPr algn="ctr">
              <a:lnSpc>
                <a:spcPts val="3600"/>
              </a:lnSpc>
            </a:pPr>
            <a:r>
              <a:rPr lang="en-US" sz="3000" spc="434">
                <a:solidFill>
                  <a:srgbClr val="FFFFFF"/>
                </a:solidFill>
                <a:latin typeface="League Spartan"/>
                <a:ea typeface="League Spartan"/>
                <a:cs typeface="League Spartan"/>
                <a:sym typeface="League Spartan"/>
              </a:rPr>
              <a:t>FAKULTAS TELEMATIKA ENERGI</a:t>
            </a:r>
          </a:p>
          <a:p>
            <a:pPr algn="ctr">
              <a:lnSpc>
                <a:spcPts val="3600"/>
              </a:lnSpc>
            </a:pPr>
            <a:r>
              <a:rPr lang="en-US" sz="3000" spc="434">
                <a:solidFill>
                  <a:srgbClr val="FFFFFF"/>
                </a:solidFill>
                <a:latin typeface="League Spartan"/>
                <a:ea typeface="League Spartan"/>
                <a:cs typeface="League Spartan"/>
                <a:sym typeface="League Spartan"/>
              </a:rPr>
              <a:t>INSTITUT TEKNOLOGI PLN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2211E"/>
        </a:solidFill>
      </p:bgPr>
    </p:bg>
    <p:spTree>
      <p:nvGrpSpPr>
        <p:cNvPr id="1" name=""/>
        <p:cNvGrpSpPr/>
        <p:nvPr/>
      </p:nvGrpSpPr>
      <p:grpSpPr>
        <a:xfrm>
          <a:off x="0" y="0"/>
          <a:ext cx="0" cy="0"/>
          <a:chOff x="0" y="0"/>
          <a:chExt cx="0" cy="0"/>
        </a:xfrm>
      </p:grpSpPr>
      <p:sp>
        <p:nvSpPr>
          <p:cNvPr name="Freeform 2" id="2"/>
          <p:cNvSpPr/>
          <p:nvPr/>
        </p:nvSpPr>
        <p:spPr>
          <a:xfrm flipH="false" flipV="false" rot="0">
            <a:off x="293943" y="0"/>
            <a:ext cx="19196647" cy="11706097"/>
          </a:xfrm>
          <a:custGeom>
            <a:avLst/>
            <a:gdLst/>
            <a:ahLst/>
            <a:cxnLst/>
            <a:rect r="r" b="b" t="t" l="l"/>
            <a:pathLst>
              <a:path h="11706097" w="19196647">
                <a:moveTo>
                  <a:pt x="0" y="0"/>
                </a:moveTo>
                <a:lnTo>
                  <a:pt x="19196646" y="0"/>
                </a:lnTo>
                <a:lnTo>
                  <a:pt x="19196646" y="11706097"/>
                </a:lnTo>
                <a:lnTo>
                  <a:pt x="0" y="11706097"/>
                </a:lnTo>
                <a:lnTo>
                  <a:pt x="0" y="0"/>
                </a:lnTo>
                <a:close/>
              </a:path>
            </a:pathLst>
          </a:custGeom>
          <a:blipFill>
            <a:blip r:embed="rId2">
              <a:alphaModFix amt="35000"/>
            </a:blip>
            <a:stretch>
              <a:fillRect l="0" t="-6576" r="0" b="-6576"/>
            </a:stretch>
          </a:blipFill>
        </p:spPr>
      </p:sp>
      <p:sp>
        <p:nvSpPr>
          <p:cNvPr name="Freeform 3" id="3"/>
          <p:cNvSpPr/>
          <p:nvPr/>
        </p:nvSpPr>
        <p:spPr>
          <a:xfrm flipH="false" flipV="true" rot="-5400000">
            <a:off x="-4114800" y="3361884"/>
            <a:ext cx="10287000" cy="3563231"/>
          </a:xfrm>
          <a:custGeom>
            <a:avLst/>
            <a:gdLst/>
            <a:ahLst/>
            <a:cxnLst/>
            <a:rect r="r" b="b" t="t" l="l"/>
            <a:pathLst>
              <a:path h="3563231" w="10287000">
                <a:moveTo>
                  <a:pt x="0" y="3563232"/>
                </a:moveTo>
                <a:lnTo>
                  <a:pt x="10287000" y="3563232"/>
                </a:lnTo>
                <a:lnTo>
                  <a:pt x="10287000" y="0"/>
                </a:lnTo>
                <a:lnTo>
                  <a:pt x="0" y="0"/>
                </a:lnTo>
                <a:lnTo>
                  <a:pt x="0" y="35632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12115800" y="3361884"/>
            <a:ext cx="10287000" cy="3563231"/>
          </a:xfrm>
          <a:custGeom>
            <a:avLst/>
            <a:gdLst/>
            <a:ahLst/>
            <a:cxnLst/>
            <a:rect r="r" b="b" t="t" l="l"/>
            <a:pathLst>
              <a:path h="3563231" w="10287000">
                <a:moveTo>
                  <a:pt x="0" y="0"/>
                </a:moveTo>
                <a:lnTo>
                  <a:pt x="10287000" y="0"/>
                </a:lnTo>
                <a:lnTo>
                  <a:pt x="10287000" y="3563232"/>
                </a:lnTo>
                <a:lnTo>
                  <a:pt x="0" y="35632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963452" y="595061"/>
            <a:ext cx="3788096" cy="867278"/>
            <a:chOff x="0" y="0"/>
            <a:chExt cx="5050794" cy="1156371"/>
          </a:xfrm>
        </p:grpSpPr>
        <p:sp>
          <p:nvSpPr>
            <p:cNvPr name="Freeform 6" id="6"/>
            <p:cNvSpPr/>
            <p:nvPr/>
          </p:nvSpPr>
          <p:spPr>
            <a:xfrm flipH="false" flipV="false" rot="0">
              <a:off x="0" y="119022"/>
              <a:ext cx="5050794" cy="918326"/>
            </a:xfrm>
            <a:custGeom>
              <a:avLst/>
              <a:gdLst/>
              <a:ahLst/>
              <a:cxnLst/>
              <a:rect r="r" b="b" t="t" l="l"/>
              <a:pathLst>
                <a:path h="918326" w="5050794">
                  <a:moveTo>
                    <a:pt x="0" y="0"/>
                  </a:moveTo>
                  <a:lnTo>
                    <a:pt x="5050794" y="0"/>
                  </a:lnTo>
                  <a:lnTo>
                    <a:pt x="5050794" y="918327"/>
                  </a:lnTo>
                  <a:lnTo>
                    <a:pt x="0" y="9183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3290366" y="68072"/>
              <a:ext cx="1020227" cy="1020227"/>
            </a:xfrm>
            <a:custGeom>
              <a:avLst/>
              <a:gdLst/>
              <a:ahLst/>
              <a:cxnLst/>
              <a:rect r="r" b="b" t="t" l="l"/>
              <a:pathLst>
                <a:path h="1020227" w="1020227">
                  <a:moveTo>
                    <a:pt x="0" y="0"/>
                  </a:moveTo>
                  <a:lnTo>
                    <a:pt x="1020228" y="0"/>
                  </a:lnTo>
                  <a:lnTo>
                    <a:pt x="1020228" y="1020227"/>
                  </a:lnTo>
                  <a:lnTo>
                    <a:pt x="0" y="1020227"/>
                  </a:lnTo>
                  <a:lnTo>
                    <a:pt x="0" y="0"/>
                  </a:lnTo>
                  <a:close/>
                </a:path>
              </a:pathLst>
            </a:custGeom>
            <a:blipFill>
              <a:blip r:embed="rId7"/>
              <a:stretch>
                <a:fillRect l="0" t="0" r="0" b="0"/>
              </a:stretch>
            </a:blipFill>
          </p:spPr>
        </p:sp>
        <p:sp>
          <p:nvSpPr>
            <p:cNvPr name="Freeform 8" id="8"/>
            <p:cNvSpPr/>
            <p:nvPr/>
          </p:nvSpPr>
          <p:spPr>
            <a:xfrm flipH="false" flipV="false" rot="0">
              <a:off x="568378" y="0"/>
              <a:ext cx="2398696" cy="1156371"/>
            </a:xfrm>
            <a:custGeom>
              <a:avLst/>
              <a:gdLst/>
              <a:ahLst/>
              <a:cxnLst/>
              <a:rect r="r" b="b" t="t" l="l"/>
              <a:pathLst>
                <a:path h="1156371" w="2398696">
                  <a:moveTo>
                    <a:pt x="0" y="0"/>
                  </a:moveTo>
                  <a:lnTo>
                    <a:pt x="2398695" y="0"/>
                  </a:lnTo>
                  <a:lnTo>
                    <a:pt x="2398695" y="1156371"/>
                  </a:lnTo>
                  <a:lnTo>
                    <a:pt x="0" y="1156371"/>
                  </a:lnTo>
                  <a:lnTo>
                    <a:pt x="0" y="0"/>
                  </a:lnTo>
                  <a:close/>
                </a:path>
              </a:pathLst>
            </a:custGeom>
            <a:blipFill>
              <a:blip r:embed="rId8"/>
              <a:stretch>
                <a:fillRect l="0" t="0" r="0" b="0"/>
              </a:stretch>
            </a:blipFill>
          </p:spPr>
        </p:sp>
      </p:grpSp>
      <p:grpSp>
        <p:nvGrpSpPr>
          <p:cNvPr name="Group 9" id="9"/>
          <p:cNvGrpSpPr/>
          <p:nvPr/>
        </p:nvGrpSpPr>
        <p:grpSpPr>
          <a:xfrm rot="0">
            <a:off x="3163335" y="3213004"/>
            <a:ext cx="4515944" cy="1713450"/>
            <a:chOff x="0" y="0"/>
            <a:chExt cx="1189384" cy="451279"/>
          </a:xfrm>
        </p:grpSpPr>
        <p:sp>
          <p:nvSpPr>
            <p:cNvPr name="Freeform 10" id="10"/>
            <p:cNvSpPr/>
            <p:nvPr/>
          </p:nvSpPr>
          <p:spPr>
            <a:xfrm flipH="false" flipV="false" rot="0">
              <a:off x="0" y="0"/>
              <a:ext cx="1189384" cy="451279"/>
            </a:xfrm>
            <a:custGeom>
              <a:avLst/>
              <a:gdLst/>
              <a:ahLst/>
              <a:cxnLst/>
              <a:rect r="r" b="b" t="t" l="l"/>
              <a:pathLst>
                <a:path h="451279" w="1189384">
                  <a:moveTo>
                    <a:pt x="87432" y="0"/>
                  </a:moveTo>
                  <a:lnTo>
                    <a:pt x="1101952" y="0"/>
                  </a:lnTo>
                  <a:cubicBezTo>
                    <a:pt x="1125141" y="0"/>
                    <a:pt x="1147379" y="9212"/>
                    <a:pt x="1163776" y="25608"/>
                  </a:cubicBezTo>
                  <a:cubicBezTo>
                    <a:pt x="1180173" y="42005"/>
                    <a:pt x="1189384" y="64244"/>
                    <a:pt x="1189384" y="87432"/>
                  </a:cubicBezTo>
                  <a:lnTo>
                    <a:pt x="1189384" y="363847"/>
                  </a:lnTo>
                  <a:cubicBezTo>
                    <a:pt x="1189384" y="387035"/>
                    <a:pt x="1180173" y="409274"/>
                    <a:pt x="1163776" y="425671"/>
                  </a:cubicBezTo>
                  <a:cubicBezTo>
                    <a:pt x="1147379" y="442067"/>
                    <a:pt x="1125141" y="451279"/>
                    <a:pt x="1101952" y="451279"/>
                  </a:cubicBezTo>
                  <a:lnTo>
                    <a:pt x="87432" y="451279"/>
                  </a:lnTo>
                  <a:cubicBezTo>
                    <a:pt x="64244" y="451279"/>
                    <a:pt x="42005" y="442067"/>
                    <a:pt x="25608" y="425671"/>
                  </a:cubicBezTo>
                  <a:cubicBezTo>
                    <a:pt x="9212" y="409274"/>
                    <a:pt x="0" y="387035"/>
                    <a:pt x="0" y="363847"/>
                  </a:cubicBezTo>
                  <a:lnTo>
                    <a:pt x="0" y="87432"/>
                  </a:lnTo>
                  <a:cubicBezTo>
                    <a:pt x="0" y="64244"/>
                    <a:pt x="9212" y="42005"/>
                    <a:pt x="25608" y="25608"/>
                  </a:cubicBezTo>
                  <a:cubicBezTo>
                    <a:pt x="42005" y="9212"/>
                    <a:pt x="64244" y="0"/>
                    <a:pt x="87432" y="0"/>
                  </a:cubicBezTo>
                  <a:close/>
                </a:path>
              </a:pathLst>
            </a:custGeom>
            <a:solidFill>
              <a:srgbClr val="FFFFFF"/>
            </a:solidFill>
          </p:spPr>
        </p:sp>
        <p:sp>
          <p:nvSpPr>
            <p:cNvPr name="TextBox 11" id="11"/>
            <p:cNvSpPr txBox="true"/>
            <p:nvPr/>
          </p:nvSpPr>
          <p:spPr>
            <a:xfrm>
              <a:off x="0" y="-38100"/>
              <a:ext cx="1189384" cy="48937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0831106" y="3189300"/>
            <a:ext cx="4515944" cy="1713450"/>
            <a:chOff x="0" y="0"/>
            <a:chExt cx="1189384" cy="451279"/>
          </a:xfrm>
        </p:grpSpPr>
        <p:sp>
          <p:nvSpPr>
            <p:cNvPr name="Freeform 13" id="13"/>
            <p:cNvSpPr/>
            <p:nvPr/>
          </p:nvSpPr>
          <p:spPr>
            <a:xfrm flipH="false" flipV="false" rot="0">
              <a:off x="0" y="0"/>
              <a:ext cx="1189384" cy="451279"/>
            </a:xfrm>
            <a:custGeom>
              <a:avLst/>
              <a:gdLst/>
              <a:ahLst/>
              <a:cxnLst/>
              <a:rect r="r" b="b" t="t" l="l"/>
              <a:pathLst>
                <a:path h="451279" w="1189384">
                  <a:moveTo>
                    <a:pt x="87432" y="0"/>
                  </a:moveTo>
                  <a:lnTo>
                    <a:pt x="1101952" y="0"/>
                  </a:lnTo>
                  <a:cubicBezTo>
                    <a:pt x="1125141" y="0"/>
                    <a:pt x="1147379" y="9212"/>
                    <a:pt x="1163776" y="25608"/>
                  </a:cubicBezTo>
                  <a:cubicBezTo>
                    <a:pt x="1180173" y="42005"/>
                    <a:pt x="1189384" y="64244"/>
                    <a:pt x="1189384" y="87432"/>
                  </a:cubicBezTo>
                  <a:lnTo>
                    <a:pt x="1189384" y="363847"/>
                  </a:lnTo>
                  <a:cubicBezTo>
                    <a:pt x="1189384" y="387035"/>
                    <a:pt x="1180173" y="409274"/>
                    <a:pt x="1163776" y="425671"/>
                  </a:cubicBezTo>
                  <a:cubicBezTo>
                    <a:pt x="1147379" y="442067"/>
                    <a:pt x="1125141" y="451279"/>
                    <a:pt x="1101952" y="451279"/>
                  </a:cubicBezTo>
                  <a:lnTo>
                    <a:pt x="87432" y="451279"/>
                  </a:lnTo>
                  <a:cubicBezTo>
                    <a:pt x="64244" y="451279"/>
                    <a:pt x="42005" y="442067"/>
                    <a:pt x="25608" y="425671"/>
                  </a:cubicBezTo>
                  <a:cubicBezTo>
                    <a:pt x="9212" y="409274"/>
                    <a:pt x="0" y="387035"/>
                    <a:pt x="0" y="363847"/>
                  </a:cubicBezTo>
                  <a:lnTo>
                    <a:pt x="0" y="87432"/>
                  </a:lnTo>
                  <a:cubicBezTo>
                    <a:pt x="0" y="64244"/>
                    <a:pt x="9212" y="42005"/>
                    <a:pt x="25608" y="25608"/>
                  </a:cubicBezTo>
                  <a:cubicBezTo>
                    <a:pt x="42005" y="9212"/>
                    <a:pt x="64244" y="0"/>
                    <a:pt x="87432" y="0"/>
                  </a:cubicBezTo>
                  <a:close/>
                </a:path>
              </a:pathLst>
            </a:custGeom>
            <a:solidFill>
              <a:srgbClr val="FFFFFF"/>
            </a:solidFill>
          </p:spPr>
        </p:sp>
        <p:sp>
          <p:nvSpPr>
            <p:cNvPr name="TextBox 14" id="14"/>
            <p:cNvSpPr txBox="true"/>
            <p:nvPr/>
          </p:nvSpPr>
          <p:spPr>
            <a:xfrm>
              <a:off x="0" y="-38100"/>
              <a:ext cx="1189384" cy="489379"/>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3356651" y="6740550"/>
            <a:ext cx="4515944" cy="1713450"/>
            <a:chOff x="0" y="0"/>
            <a:chExt cx="1189384" cy="451279"/>
          </a:xfrm>
        </p:grpSpPr>
        <p:sp>
          <p:nvSpPr>
            <p:cNvPr name="Freeform 16" id="16"/>
            <p:cNvSpPr/>
            <p:nvPr/>
          </p:nvSpPr>
          <p:spPr>
            <a:xfrm flipH="false" flipV="false" rot="0">
              <a:off x="0" y="0"/>
              <a:ext cx="1189384" cy="451279"/>
            </a:xfrm>
            <a:custGeom>
              <a:avLst/>
              <a:gdLst/>
              <a:ahLst/>
              <a:cxnLst/>
              <a:rect r="r" b="b" t="t" l="l"/>
              <a:pathLst>
                <a:path h="451279" w="1189384">
                  <a:moveTo>
                    <a:pt x="87432" y="0"/>
                  </a:moveTo>
                  <a:lnTo>
                    <a:pt x="1101952" y="0"/>
                  </a:lnTo>
                  <a:cubicBezTo>
                    <a:pt x="1125141" y="0"/>
                    <a:pt x="1147379" y="9212"/>
                    <a:pt x="1163776" y="25608"/>
                  </a:cubicBezTo>
                  <a:cubicBezTo>
                    <a:pt x="1180173" y="42005"/>
                    <a:pt x="1189384" y="64244"/>
                    <a:pt x="1189384" y="87432"/>
                  </a:cubicBezTo>
                  <a:lnTo>
                    <a:pt x="1189384" y="363847"/>
                  </a:lnTo>
                  <a:cubicBezTo>
                    <a:pt x="1189384" y="387035"/>
                    <a:pt x="1180173" y="409274"/>
                    <a:pt x="1163776" y="425671"/>
                  </a:cubicBezTo>
                  <a:cubicBezTo>
                    <a:pt x="1147379" y="442067"/>
                    <a:pt x="1125141" y="451279"/>
                    <a:pt x="1101952" y="451279"/>
                  </a:cubicBezTo>
                  <a:lnTo>
                    <a:pt x="87432" y="451279"/>
                  </a:lnTo>
                  <a:cubicBezTo>
                    <a:pt x="64244" y="451279"/>
                    <a:pt x="42005" y="442067"/>
                    <a:pt x="25608" y="425671"/>
                  </a:cubicBezTo>
                  <a:cubicBezTo>
                    <a:pt x="9212" y="409274"/>
                    <a:pt x="0" y="387035"/>
                    <a:pt x="0" y="363847"/>
                  </a:cubicBezTo>
                  <a:lnTo>
                    <a:pt x="0" y="87432"/>
                  </a:lnTo>
                  <a:cubicBezTo>
                    <a:pt x="0" y="64244"/>
                    <a:pt x="9212" y="42005"/>
                    <a:pt x="25608" y="25608"/>
                  </a:cubicBezTo>
                  <a:cubicBezTo>
                    <a:pt x="42005" y="9212"/>
                    <a:pt x="64244" y="0"/>
                    <a:pt x="87432" y="0"/>
                  </a:cubicBezTo>
                  <a:close/>
                </a:path>
              </a:pathLst>
            </a:custGeom>
            <a:solidFill>
              <a:srgbClr val="FFFFFF"/>
            </a:solidFill>
          </p:spPr>
        </p:sp>
        <p:sp>
          <p:nvSpPr>
            <p:cNvPr name="TextBox 17" id="17"/>
            <p:cNvSpPr txBox="true"/>
            <p:nvPr/>
          </p:nvSpPr>
          <p:spPr>
            <a:xfrm>
              <a:off x="0" y="-38100"/>
              <a:ext cx="1189384" cy="489379"/>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1075574" y="6740550"/>
            <a:ext cx="4515944" cy="1713450"/>
            <a:chOff x="0" y="0"/>
            <a:chExt cx="1189384" cy="451279"/>
          </a:xfrm>
        </p:grpSpPr>
        <p:sp>
          <p:nvSpPr>
            <p:cNvPr name="Freeform 19" id="19"/>
            <p:cNvSpPr/>
            <p:nvPr/>
          </p:nvSpPr>
          <p:spPr>
            <a:xfrm flipH="false" flipV="false" rot="0">
              <a:off x="0" y="0"/>
              <a:ext cx="1189384" cy="451279"/>
            </a:xfrm>
            <a:custGeom>
              <a:avLst/>
              <a:gdLst/>
              <a:ahLst/>
              <a:cxnLst/>
              <a:rect r="r" b="b" t="t" l="l"/>
              <a:pathLst>
                <a:path h="451279" w="1189384">
                  <a:moveTo>
                    <a:pt x="87432" y="0"/>
                  </a:moveTo>
                  <a:lnTo>
                    <a:pt x="1101952" y="0"/>
                  </a:lnTo>
                  <a:cubicBezTo>
                    <a:pt x="1125141" y="0"/>
                    <a:pt x="1147379" y="9212"/>
                    <a:pt x="1163776" y="25608"/>
                  </a:cubicBezTo>
                  <a:cubicBezTo>
                    <a:pt x="1180173" y="42005"/>
                    <a:pt x="1189384" y="64244"/>
                    <a:pt x="1189384" y="87432"/>
                  </a:cubicBezTo>
                  <a:lnTo>
                    <a:pt x="1189384" y="363847"/>
                  </a:lnTo>
                  <a:cubicBezTo>
                    <a:pt x="1189384" y="387035"/>
                    <a:pt x="1180173" y="409274"/>
                    <a:pt x="1163776" y="425671"/>
                  </a:cubicBezTo>
                  <a:cubicBezTo>
                    <a:pt x="1147379" y="442067"/>
                    <a:pt x="1125141" y="451279"/>
                    <a:pt x="1101952" y="451279"/>
                  </a:cubicBezTo>
                  <a:lnTo>
                    <a:pt x="87432" y="451279"/>
                  </a:lnTo>
                  <a:cubicBezTo>
                    <a:pt x="64244" y="451279"/>
                    <a:pt x="42005" y="442067"/>
                    <a:pt x="25608" y="425671"/>
                  </a:cubicBezTo>
                  <a:cubicBezTo>
                    <a:pt x="9212" y="409274"/>
                    <a:pt x="0" y="387035"/>
                    <a:pt x="0" y="363847"/>
                  </a:cubicBezTo>
                  <a:lnTo>
                    <a:pt x="0" y="87432"/>
                  </a:lnTo>
                  <a:cubicBezTo>
                    <a:pt x="0" y="64244"/>
                    <a:pt x="9212" y="42005"/>
                    <a:pt x="25608" y="25608"/>
                  </a:cubicBezTo>
                  <a:cubicBezTo>
                    <a:pt x="42005" y="9212"/>
                    <a:pt x="64244" y="0"/>
                    <a:pt x="87432" y="0"/>
                  </a:cubicBezTo>
                  <a:close/>
                </a:path>
              </a:pathLst>
            </a:custGeom>
            <a:solidFill>
              <a:srgbClr val="FFFFFF"/>
            </a:solidFill>
          </p:spPr>
        </p:sp>
        <p:sp>
          <p:nvSpPr>
            <p:cNvPr name="TextBox 20" id="20"/>
            <p:cNvSpPr txBox="true"/>
            <p:nvPr/>
          </p:nvSpPr>
          <p:spPr>
            <a:xfrm>
              <a:off x="0" y="-38100"/>
              <a:ext cx="1189384" cy="489379"/>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2251591" y="3064095"/>
            <a:ext cx="1963860" cy="196386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0" t="0" r="0" b="0"/>
              </a:stretch>
            </a:blipFill>
          </p:spPr>
        </p:sp>
      </p:grpSp>
      <p:grpSp>
        <p:nvGrpSpPr>
          <p:cNvPr name="Group 23" id="23"/>
          <p:cNvGrpSpPr/>
          <p:nvPr/>
        </p:nvGrpSpPr>
        <p:grpSpPr>
          <a:xfrm rot="0">
            <a:off x="9801259" y="3064095"/>
            <a:ext cx="1963860" cy="1963860"/>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38423" t="-88165" r="-49169" b="-93398"/>
              </a:stretch>
            </a:blipFill>
          </p:spPr>
        </p:sp>
      </p:grpSp>
      <p:grpSp>
        <p:nvGrpSpPr>
          <p:cNvPr name="Group 25" id="25"/>
          <p:cNvGrpSpPr/>
          <p:nvPr/>
        </p:nvGrpSpPr>
        <p:grpSpPr>
          <a:xfrm rot="0">
            <a:off x="9849176" y="6632619"/>
            <a:ext cx="1963860" cy="1963860"/>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0" t="-16666" r="0" b="-16666"/>
              </a:stretch>
            </a:blipFill>
          </p:spPr>
        </p:sp>
      </p:grpSp>
      <p:grpSp>
        <p:nvGrpSpPr>
          <p:cNvPr name="Group 27" id="27"/>
          <p:cNvGrpSpPr/>
          <p:nvPr/>
        </p:nvGrpSpPr>
        <p:grpSpPr>
          <a:xfrm rot="0">
            <a:off x="2280166" y="6664442"/>
            <a:ext cx="1963860" cy="1963860"/>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2"/>
              <a:stretch>
                <a:fillRect l="0" t="-5656" r="0" b="-5656"/>
              </a:stretch>
            </a:blipFill>
          </p:spPr>
        </p:sp>
      </p:grpSp>
      <p:grpSp>
        <p:nvGrpSpPr>
          <p:cNvPr name="Group 29" id="29"/>
          <p:cNvGrpSpPr/>
          <p:nvPr/>
        </p:nvGrpSpPr>
        <p:grpSpPr>
          <a:xfrm rot="0">
            <a:off x="-471788" y="9005011"/>
            <a:ext cx="1531460" cy="871623"/>
            <a:chOff x="0" y="0"/>
            <a:chExt cx="403348" cy="229563"/>
          </a:xfrm>
        </p:grpSpPr>
        <p:sp>
          <p:nvSpPr>
            <p:cNvPr name="Freeform 30" id="30"/>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172406"/>
            </a:solidFill>
          </p:spPr>
        </p:sp>
        <p:sp>
          <p:nvSpPr>
            <p:cNvPr name="TextBox 31" id="31"/>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4751548" y="1357564"/>
            <a:ext cx="9838102" cy="972053"/>
          </a:xfrm>
          <a:prstGeom prst="rect">
            <a:avLst/>
          </a:prstGeom>
        </p:spPr>
        <p:txBody>
          <a:bodyPr anchor="t" rtlCol="false" tIns="0" lIns="0" bIns="0" rIns="0">
            <a:spAutoFit/>
          </a:bodyPr>
          <a:lstStyle/>
          <a:p>
            <a:pPr algn="l" marL="0" indent="0" lvl="0">
              <a:lnSpc>
                <a:spcPts val="8029"/>
              </a:lnSpc>
              <a:spcBef>
                <a:spcPct val="0"/>
              </a:spcBef>
            </a:pPr>
            <a:r>
              <a:rPr lang="en-US" sz="5735" spc="372">
                <a:solidFill>
                  <a:srgbClr val="FFFFFF"/>
                </a:solidFill>
                <a:latin typeface="Alata"/>
                <a:ea typeface="Alata"/>
                <a:cs typeface="Alata"/>
                <a:sym typeface="Alata"/>
              </a:rPr>
              <a:t>TEAM 4 - DEEP LEARNING</a:t>
            </a:r>
          </a:p>
        </p:txBody>
      </p:sp>
      <p:sp>
        <p:nvSpPr>
          <p:cNvPr name="TextBox 33" id="33"/>
          <p:cNvSpPr txBox="true"/>
          <p:nvPr/>
        </p:nvSpPr>
        <p:spPr>
          <a:xfrm rot="0">
            <a:off x="202343" y="9046488"/>
            <a:ext cx="675384" cy="712470"/>
          </a:xfrm>
          <a:prstGeom prst="rect">
            <a:avLst/>
          </a:prstGeom>
        </p:spPr>
        <p:txBody>
          <a:bodyPr anchor="t" rtlCol="false" tIns="0" lIns="0" bIns="0" rIns="0">
            <a:spAutoFit/>
          </a:bodyPr>
          <a:lstStyle/>
          <a:p>
            <a:pPr algn="ctr">
              <a:lnSpc>
                <a:spcPts val="5880"/>
              </a:lnSpc>
            </a:pPr>
            <a:r>
              <a:rPr lang="en-US" b="true" sz="4200">
                <a:solidFill>
                  <a:srgbClr val="FFFFFF"/>
                </a:solidFill>
                <a:latin typeface="Montserrat Bold"/>
                <a:ea typeface="Montserrat Bold"/>
                <a:cs typeface="Montserrat Bold"/>
                <a:sym typeface="Montserrat Bold"/>
              </a:rPr>
              <a:t>2</a:t>
            </a:r>
          </a:p>
        </p:txBody>
      </p:sp>
      <p:sp>
        <p:nvSpPr>
          <p:cNvPr name="TextBox 34" id="34"/>
          <p:cNvSpPr txBox="true"/>
          <p:nvPr/>
        </p:nvSpPr>
        <p:spPr>
          <a:xfrm rot="0">
            <a:off x="12032295" y="7091075"/>
            <a:ext cx="3226130" cy="989798"/>
          </a:xfrm>
          <a:prstGeom prst="rect">
            <a:avLst/>
          </a:prstGeom>
        </p:spPr>
        <p:txBody>
          <a:bodyPr anchor="t" rtlCol="false" tIns="0" lIns="0" bIns="0" rIns="0">
            <a:spAutoFit/>
          </a:bodyPr>
          <a:lstStyle/>
          <a:p>
            <a:pPr algn="ctr">
              <a:lnSpc>
                <a:spcPts val="3995"/>
              </a:lnSpc>
            </a:pPr>
            <a:r>
              <a:rPr lang="en-US" sz="2853" spc="79">
                <a:solidFill>
                  <a:srgbClr val="080D5E"/>
                </a:solidFill>
                <a:latin typeface="Alata"/>
                <a:ea typeface="Alata"/>
                <a:cs typeface="Alata"/>
                <a:sym typeface="Alata"/>
              </a:rPr>
              <a:t>LULU EL MAKNUN</a:t>
            </a:r>
          </a:p>
          <a:p>
            <a:pPr algn="ctr" marL="0" indent="0" lvl="0">
              <a:lnSpc>
                <a:spcPts val="3995"/>
              </a:lnSpc>
              <a:spcBef>
                <a:spcPct val="0"/>
              </a:spcBef>
            </a:pPr>
            <a:r>
              <a:rPr lang="en-US" sz="2853" spc="79">
                <a:solidFill>
                  <a:srgbClr val="080D5E"/>
                </a:solidFill>
                <a:latin typeface="Alata"/>
                <a:ea typeface="Alata"/>
                <a:cs typeface="Alata"/>
                <a:sym typeface="Alata"/>
              </a:rPr>
              <a:t>202332124</a:t>
            </a:r>
          </a:p>
        </p:txBody>
      </p:sp>
      <p:sp>
        <p:nvSpPr>
          <p:cNvPr name="TextBox 35" id="35"/>
          <p:cNvSpPr txBox="true"/>
          <p:nvPr/>
        </p:nvSpPr>
        <p:spPr>
          <a:xfrm rot="0">
            <a:off x="11813036" y="3546255"/>
            <a:ext cx="2865699" cy="989798"/>
          </a:xfrm>
          <a:prstGeom prst="rect">
            <a:avLst/>
          </a:prstGeom>
        </p:spPr>
        <p:txBody>
          <a:bodyPr anchor="t" rtlCol="false" tIns="0" lIns="0" bIns="0" rIns="0">
            <a:spAutoFit/>
          </a:bodyPr>
          <a:lstStyle/>
          <a:p>
            <a:pPr algn="ctr">
              <a:lnSpc>
                <a:spcPts val="3995"/>
              </a:lnSpc>
            </a:pPr>
            <a:r>
              <a:rPr lang="en-US" sz="2853" spc="79">
                <a:solidFill>
                  <a:srgbClr val="080D5E"/>
                </a:solidFill>
                <a:latin typeface="Alata"/>
                <a:ea typeface="Alata"/>
                <a:cs typeface="Alata"/>
                <a:sym typeface="Alata"/>
              </a:rPr>
              <a:t>NUR AZIZAH</a:t>
            </a:r>
          </a:p>
          <a:p>
            <a:pPr algn="ctr" marL="0" indent="0" lvl="0">
              <a:lnSpc>
                <a:spcPts val="3995"/>
              </a:lnSpc>
              <a:spcBef>
                <a:spcPct val="0"/>
              </a:spcBef>
            </a:pPr>
            <a:r>
              <a:rPr lang="en-US" sz="2853" spc="79">
                <a:solidFill>
                  <a:srgbClr val="080D5E"/>
                </a:solidFill>
                <a:latin typeface="Alata"/>
                <a:ea typeface="Alata"/>
                <a:cs typeface="Alata"/>
                <a:sym typeface="Alata"/>
              </a:rPr>
              <a:t>202332133</a:t>
            </a:r>
          </a:p>
        </p:txBody>
      </p:sp>
      <p:sp>
        <p:nvSpPr>
          <p:cNvPr name="TextBox 36" id="36"/>
          <p:cNvSpPr txBox="true"/>
          <p:nvPr/>
        </p:nvSpPr>
        <p:spPr>
          <a:xfrm rot="0">
            <a:off x="3945950" y="3522551"/>
            <a:ext cx="3847629" cy="989798"/>
          </a:xfrm>
          <a:prstGeom prst="rect">
            <a:avLst/>
          </a:prstGeom>
        </p:spPr>
        <p:txBody>
          <a:bodyPr anchor="t" rtlCol="false" tIns="0" lIns="0" bIns="0" rIns="0">
            <a:spAutoFit/>
          </a:bodyPr>
          <a:lstStyle/>
          <a:p>
            <a:pPr algn="ctr">
              <a:lnSpc>
                <a:spcPts val="3995"/>
              </a:lnSpc>
            </a:pPr>
            <a:r>
              <a:rPr lang="en-US" sz="2853" spc="79">
                <a:solidFill>
                  <a:srgbClr val="080D5E"/>
                </a:solidFill>
                <a:latin typeface="Alata"/>
                <a:ea typeface="Alata"/>
                <a:cs typeface="Alata"/>
                <a:sym typeface="Alata"/>
              </a:rPr>
              <a:t>NIXON TIMOTHY L</a:t>
            </a:r>
          </a:p>
          <a:p>
            <a:pPr algn="ctr" marL="0" indent="0" lvl="0">
              <a:lnSpc>
                <a:spcPts val="3995"/>
              </a:lnSpc>
              <a:spcBef>
                <a:spcPct val="0"/>
              </a:spcBef>
            </a:pPr>
            <a:r>
              <a:rPr lang="en-US" sz="2853" spc="79">
                <a:solidFill>
                  <a:srgbClr val="080D5E"/>
                </a:solidFill>
                <a:latin typeface="Alata"/>
                <a:ea typeface="Alata"/>
                <a:cs typeface="Alata"/>
                <a:sym typeface="Alata"/>
              </a:rPr>
              <a:t>202332152</a:t>
            </a:r>
          </a:p>
        </p:txBody>
      </p:sp>
      <p:sp>
        <p:nvSpPr>
          <p:cNvPr name="TextBox 37" id="37"/>
          <p:cNvSpPr txBox="true"/>
          <p:nvPr/>
        </p:nvSpPr>
        <p:spPr>
          <a:xfrm rot="0">
            <a:off x="4168236" y="7191045"/>
            <a:ext cx="3666260" cy="872554"/>
          </a:xfrm>
          <a:prstGeom prst="rect">
            <a:avLst/>
          </a:prstGeom>
        </p:spPr>
        <p:txBody>
          <a:bodyPr anchor="t" rtlCol="false" tIns="0" lIns="0" bIns="0" rIns="0">
            <a:spAutoFit/>
          </a:bodyPr>
          <a:lstStyle/>
          <a:p>
            <a:pPr algn="ctr">
              <a:lnSpc>
                <a:spcPts val="3574"/>
              </a:lnSpc>
            </a:pPr>
            <a:r>
              <a:rPr lang="en-US" sz="2553" spc="71">
                <a:solidFill>
                  <a:srgbClr val="080D5E"/>
                </a:solidFill>
                <a:latin typeface="Alata"/>
                <a:ea typeface="Alata"/>
                <a:cs typeface="Alata"/>
                <a:sym typeface="Alata"/>
              </a:rPr>
              <a:t>RAFI DANISWARA P. W</a:t>
            </a:r>
          </a:p>
          <a:p>
            <a:pPr algn="ctr" marL="0" indent="0" lvl="0">
              <a:lnSpc>
                <a:spcPts val="3574"/>
              </a:lnSpc>
              <a:spcBef>
                <a:spcPct val="0"/>
              </a:spcBef>
            </a:pPr>
            <a:r>
              <a:rPr lang="en-US" sz="2553" spc="71">
                <a:solidFill>
                  <a:srgbClr val="080D5E"/>
                </a:solidFill>
                <a:latin typeface="Alata"/>
                <a:ea typeface="Alata"/>
                <a:cs typeface="Alata"/>
                <a:sym typeface="Alata"/>
              </a:rPr>
              <a:t>202332146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265120" y="-234386"/>
            <a:ext cx="6943262" cy="10859091"/>
            <a:chOff x="0" y="0"/>
            <a:chExt cx="1828678" cy="2860007"/>
          </a:xfrm>
        </p:grpSpPr>
        <p:sp>
          <p:nvSpPr>
            <p:cNvPr name="Freeform 3" id="3"/>
            <p:cNvSpPr/>
            <p:nvPr/>
          </p:nvSpPr>
          <p:spPr>
            <a:xfrm flipH="false" flipV="false" rot="0">
              <a:off x="0" y="0"/>
              <a:ext cx="1828678" cy="2860007"/>
            </a:xfrm>
            <a:custGeom>
              <a:avLst/>
              <a:gdLst/>
              <a:ahLst/>
              <a:cxnLst/>
              <a:rect r="r" b="b" t="t" l="l"/>
              <a:pathLst>
                <a:path h="2860007" w="1828678">
                  <a:moveTo>
                    <a:pt x="0" y="0"/>
                  </a:moveTo>
                  <a:lnTo>
                    <a:pt x="1828678" y="0"/>
                  </a:lnTo>
                  <a:lnTo>
                    <a:pt x="1828678" y="2860007"/>
                  </a:lnTo>
                  <a:lnTo>
                    <a:pt x="0" y="2860007"/>
                  </a:lnTo>
                  <a:close/>
                </a:path>
              </a:pathLst>
            </a:custGeom>
            <a:solidFill>
              <a:srgbClr val="172406"/>
            </a:solidFill>
          </p:spPr>
        </p:sp>
        <p:sp>
          <p:nvSpPr>
            <p:cNvPr name="TextBox 4" id="4"/>
            <p:cNvSpPr txBox="true"/>
            <p:nvPr/>
          </p:nvSpPr>
          <p:spPr>
            <a:xfrm>
              <a:off x="0" y="-38100"/>
              <a:ext cx="1828678" cy="2898107"/>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305322" y="2539712"/>
            <a:ext cx="5761813" cy="57618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30904" y="0"/>
                  </a:moveTo>
                  <a:lnTo>
                    <a:pt x="781896" y="0"/>
                  </a:lnTo>
                  <a:cubicBezTo>
                    <a:pt x="798964" y="0"/>
                    <a:pt x="812800" y="13836"/>
                    <a:pt x="812800" y="30904"/>
                  </a:cubicBezTo>
                  <a:lnTo>
                    <a:pt x="812800" y="781896"/>
                  </a:lnTo>
                  <a:cubicBezTo>
                    <a:pt x="812800" y="798964"/>
                    <a:pt x="798964" y="812800"/>
                    <a:pt x="781896" y="812800"/>
                  </a:cubicBezTo>
                  <a:lnTo>
                    <a:pt x="30904" y="812800"/>
                  </a:lnTo>
                  <a:cubicBezTo>
                    <a:pt x="13836" y="812800"/>
                    <a:pt x="0" y="798964"/>
                    <a:pt x="0" y="781896"/>
                  </a:cubicBezTo>
                  <a:lnTo>
                    <a:pt x="0" y="30904"/>
                  </a:lnTo>
                  <a:cubicBezTo>
                    <a:pt x="0" y="13836"/>
                    <a:pt x="13836" y="0"/>
                    <a:pt x="30904" y="0"/>
                  </a:cubicBezTo>
                  <a:close/>
                </a:path>
              </a:pathLst>
            </a:custGeom>
            <a:blipFill>
              <a:blip r:embed="rId2"/>
              <a:stretch>
                <a:fillRect l="-27984" t="0" r="-40100" b="0"/>
              </a:stretch>
            </a:blipFill>
            <a:ln w="85725" cap="rnd">
              <a:solidFill>
                <a:srgbClr val="FFFFFF"/>
              </a:solidFill>
              <a:prstDash val="solid"/>
              <a:round/>
            </a:ln>
          </p:spPr>
        </p:sp>
      </p:grpSp>
      <p:grpSp>
        <p:nvGrpSpPr>
          <p:cNvPr name="Group 7" id="7"/>
          <p:cNvGrpSpPr/>
          <p:nvPr/>
        </p:nvGrpSpPr>
        <p:grpSpPr>
          <a:xfrm rot="0">
            <a:off x="-342035" y="9258300"/>
            <a:ext cx="1531460" cy="871623"/>
            <a:chOff x="0" y="0"/>
            <a:chExt cx="403348" cy="229563"/>
          </a:xfrm>
        </p:grpSpPr>
        <p:sp>
          <p:nvSpPr>
            <p:cNvPr name="Freeform 8" id="8"/>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172406"/>
            </a:solidFill>
          </p:spPr>
        </p:sp>
        <p:sp>
          <p:nvSpPr>
            <p:cNvPr name="TextBox 9" id="9"/>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7259300" y="6311118"/>
            <a:ext cx="2693192" cy="3980814"/>
          </a:xfrm>
          <a:custGeom>
            <a:avLst/>
            <a:gdLst/>
            <a:ahLst/>
            <a:cxnLst/>
            <a:rect r="r" b="b" t="t" l="l"/>
            <a:pathLst>
              <a:path h="3980814" w="2693192">
                <a:moveTo>
                  <a:pt x="0" y="0"/>
                </a:moveTo>
                <a:lnTo>
                  <a:pt x="2693192" y="0"/>
                </a:lnTo>
                <a:lnTo>
                  <a:pt x="2693192" y="3980813"/>
                </a:lnTo>
                <a:lnTo>
                  <a:pt x="0" y="39808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0621672" y="8981256"/>
            <a:ext cx="1643449" cy="1643449"/>
          </a:xfrm>
          <a:custGeom>
            <a:avLst/>
            <a:gdLst/>
            <a:ahLst/>
            <a:cxnLst/>
            <a:rect r="r" b="b" t="t" l="l"/>
            <a:pathLst>
              <a:path h="1643449" w="1643449">
                <a:moveTo>
                  <a:pt x="0" y="0"/>
                </a:moveTo>
                <a:lnTo>
                  <a:pt x="1643448" y="0"/>
                </a:lnTo>
                <a:lnTo>
                  <a:pt x="1643448" y="1643449"/>
                </a:lnTo>
                <a:lnTo>
                  <a:pt x="0" y="16434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2" id="12"/>
          <p:cNvSpPr/>
          <p:nvPr/>
        </p:nvSpPr>
        <p:spPr>
          <a:xfrm flipH="true">
            <a:off x="1570007" y="3455251"/>
            <a:ext cx="0" cy="5616484"/>
          </a:xfrm>
          <a:prstGeom prst="line">
            <a:avLst/>
          </a:prstGeom>
          <a:ln cap="flat" w="38100">
            <a:solidFill>
              <a:srgbClr val="000000"/>
            </a:solidFill>
            <a:prstDash val="solid"/>
            <a:headEnd type="none" len="sm" w="sm"/>
            <a:tailEnd type="none" len="sm" w="sm"/>
          </a:ln>
        </p:spPr>
      </p:sp>
      <p:sp>
        <p:nvSpPr>
          <p:cNvPr name="AutoShape 13" id="13"/>
          <p:cNvSpPr/>
          <p:nvPr/>
        </p:nvSpPr>
        <p:spPr>
          <a:xfrm flipV="true">
            <a:off x="1550957" y="4060039"/>
            <a:ext cx="903648" cy="0"/>
          </a:xfrm>
          <a:prstGeom prst="line">
            <a:avLst/>
          </a:prstGeom>
          <a:ln cap="flat" w="38100">
            <a:solidFill>
              <a:srgbClr val="000000"/>
            </a:solidFill>
            <a:prstDash val="solid"/>
            <a:headEnd type="none" len="sm" w="sm"/>
            <a:tailEnd type="triangle" len="med" w="lg"/>
          </a:ln>
        </p:spPr>
      </p:sp>
      <p:sp>
        <p:nvSpPr>
          <p:cNvPr name="AutoShape 14" id="14"/>
          <p:cNvSpPr/>
          <p:nvPr/>
        </p:nvSpPr>
        <p:spPr>
          <a:xfrm>
            <a:off x="1570007" y="6215697"/>
            <a:ext cx="846498" cy="0"/>
          </a:xfrm>
          <a:prstGeom prst="line">
            <a:avLst/>
          </a:prstGeom>
          <a:ln cap="flat" w="38100">
            <a:solidFill>
              <a:srgbClr val="000000"/>
            </a:solidFill>
            <a:prstDash val="solid"/>
            <a:headEnd type="none" len="sm" w="sm"/>
            <a:tailEnd type="triangle" len="med" w="lg"/>
          </a:ln>
        </p:spPr>
      </p:sp>
      <p:sp>
        <p:nvSpPr>
          <p:cNvPr name="AutoShape 15" id="15"/>
          <p:cNvSpPr/>
          <p:nvPr/>
        </p:nvSpPr>
        <p:spPr>
          <a:xfrm>
            <a:off x="1550957" y="8082597"/>
            <a:ext cx="922698" cy="0"/>
          </a:xfrm>
          <a:prstGeom prst="line">
            <a:avLst/>
          </a:prstGeom>
          <a:ln cap="flat" w="38100">
            <a:solidFill>
              <a:srgbClr val="000000"/>
            </a:solidFill>
            <a:prstDash val="solid"/>
            <a:headEnd type="none" len="sm" w="sm"/>
            <a:tailEnd type="triangle" len="med" w="lg"/>
          </a:ln>
        </p:spPr>
      </p:sp>
      <p:sp>
        <p:nvSpPr>
          <p:cNvPr name="TextBox 16" id="16"/>
          <p:cNvSpPr txBox="true"/>
          <p:nvPr/>
        </p:nvSpPr>
        <p:spPr>
          <a:xfrm rot="0">
            <a:off x="2371637" y="1967754"/>
            <a:ext cx="7646233" cy="725857"/>
          </a:xfrm>
          <a:prstGeom prst="rect">
            <a:avLst/>
          </a:prstGeom>
        </p:spPr>
        <p:txBody>
          <a:bodyPr anchor="t" rtlCol="false" tIns="0" lIns="0" bIns="0" rIns="0">
            <a:spAutoFit/>
          </a:bodyPr>
          <a:lstStyle/>
          <a:p>
            <a:pPr algn="ctr">
              <a:lnSpc>
                <a:spcPts val="5459"/>
              </a:lnSpc>
            </a:pPr>
            <a:r>
              <a:rPr lang="en-US" sz="5514" b="true">
                <a:solidFill>
                  <a:srgbClr val="172406"/>
                </a:solidFill>
                <a:latin typeface="Montserrat Bold"/>
                <a:ea typeface="Montserrat Bold"/>
                <a:cs typeface="Montserrat Bold"/>
                <a:sym typeface="Montserrat Bold"/>
              </a:rPr>
              <a:t>LATAR BELAKANG</a:t>
            </a:r>
          </a:p>
        </p:txBody>
      </p:sp>
      <p:sp>
        <p:nvSpPr>
          <p:cNvPr name="TextBox 17" id="17"/>
          <p:cNvSpPr txBox="true"/>
          <p:nvPr/>
        </p:nvSpPr>
        <p:spPr>
          <a:xfrm rot="0">
            <a:off x="161220" y="9299777"/>
            <a:ext cx="675384" cy="712470"/>
          </a:xfrm>
          <a:prstGeom prst="rect">
            <a:avLst/>
          </a:prstGeom>
        </p:spPr>
        <p:txBody>
          <a:bodyPr anchor="t" rtlCol="false" tIns="0" lIns="0" bIns="0" rIns="0">
            <a:spAutoFit/>
          </a:bodyPr>
          <a:lstStyle/>
          <a:p>
            <a:pPr algn="ctr">
              <a:lnSpc>
                <a:spcPts val="5880"/>
              </a:lnSpc>
            </a:pPr>
            <a:r>
              <a:rPr lang="en-US" b="true" sz="4200">
                <a:solidFill>
                  <a:srgbClr val="FFFFFF"/>
                </a:solidFill>
                <a:latin typeface="Montserrat Bold"/>
                <a:ea typeface="Montserrat Bold"/>
                <a:cs typeface="Montserrat Bold"/>
                <a:sym typeface="Montserrat Bold"/>
              </a:rPr>
              <a:t>3</a:t>
            </a:r>
          </a:p>
        </p:txBody>
      </p:sp>
      <p:sp>
        <p:nvSpPr>
          <p:cNvPr name="TextBox 18" id="18"/>
          <p:cNvSpPr txBox="true"/>
          <p:nvPr/>
        </p:nvSpPr>
        <p:spPr>
          <a:xfrm rot="0">
            <a:off x="2687001" y="3344600"/>
            <a:ext cx="7520377" cy="1729693"/>
          </a:xfrm>
          <a:prstGeom prst="rect">
            <a:avLst/>
          </a:prstGeom>
        </p:spPr>
        <p:txBody>
          <a:bodyPr anchor="t" rtlCol="false" tIns="0" lIns="0" bIns="0" rIns="0">
            <a:spAutoFit/>
          </a:bodyPr>
          <a:lstStyle/>
          <a:p>
            <a:pPr algn="l">
              <a:lnSpc>
                <a:spcPts val="2731"/>
              </a:lnSpc>
            </a:pPr>
            <a:r>
              <a:rPr lang="en-US" sz="1951">
                <a:solidFill>
                  <a:srgbClr val="172406"/>
                </a:solidFill>
                <a:latin typeface="Montserrat"/>
                <a:ea typeface="Montserrat"/>
                <a:cs typeface="Montserrat"/>
                <a:sym typeface="Montserrat"/>
              </a:rPr>
              <a:t>Secara teoritis, TikTok memiliki algoritma yang memungkinkan konten edukatif menjangkau audiens luas, sehingga berpotensi mendukung penyebaran informasi kendaraan listrik dalam rangka pencapaian SDG 7 Energi Bersih dan Terjangkau.</a:t>
            </a:r>
          </a:p>
        </p:txBody>
      </p:sp>
      <p:sp>
        <p:nvSpPr>
          <p:cNvPr name="TextBox 19" id="19"/>
          <p:cNvSpPr txBox="true"/>
          <p:nvPr/>
        </p:nvSpPr>
        <p:spPr>
          <a:xfrm rot="0">
            <a:off x="2603002" y="5595621"/>
            <a:ext cx="7520377" cy="1383369"/>
          </a:xfrm>
          <a:prstGeom prst="rect">
            <a:avLst/>
          </a:prstGeom>
        </p:spPr>
        <p:txBody>
          <a:bodyPr anchor="t" rtlCol="false" tIns="0" lIns="0" bIns="0" rIns="0">
            <a:spAutoFit/>
          </a:bodyPr>
          <a:lstStyle/>
          <a:p>
            <a:pPr algn="l">
              <a:lnSpc>
                <a:spcPts val="2731"/>
              </a:lnSpc>
            </a:pPr>
            <a:r>
              <a:rPr lang="en-US" sz="1951">
                <a:solidFill>
                  <a:srgbClr val="172406"/>
                </a:solidFill>
                <a:latin typeface="Montserrat"/>
                <a:ea typeface="Montserrat"/>
                <a:cs typeface="Montserrat"/>
                <a:sym typeface="Montserrat"/>
              </a:rPr>
              <a:t>Namun, pada kenyataannya banyak konten edukatif kendaraan listrik tidak memperoleh jangkauan optimal karena pemilihan tagar masih bersifat intuitif dan belum berbasis analisis data.</a:t>
            </a:r>
          </a:p>
        </p:txBody>
      </p:sp>
      <p:sp>
        <p:nvSpPr>
          <p:cNvPr name="TextBox 20" id="20"/>
          <p:cNvSpPr txBox="true"/>
          <p:nvPr/>
        </p:nvSpPr>
        <p:spPr>
          <a:xfrm rot="0">
            <a:off x="2687001" y="7626690"/>
            <a:ext cx="7520377" cy="1037044"/>
          </a:xfrm>
          <a:prstGeom prst="rect">
            <a:avLst/>
          </a:prstGeom>
        </p:spPr>
        <p:txBody>
          <a:bodyPr anchor="t" rtlCol="false" tIns="0" lIns="0" bIns="0" rIns="0">
            <a:spAutoFit/>
          </a:bodyPr>
          <a:lstStyle/>
          <a:p>
            <a:pPr algn="l">
              <a:lnSpc>
                <a:spcPts val="2731"/>
              </a:lnSpc>
            </a:pPr>
            <a:r>
              <a:rPr lang="en-US" sz="1951">
                <a:solidFill>
                  <a:srgbClr val="172406"/>
                </a:solidFill>
                <a:latin typeface="Montserrat"/>
                <a:ea typeface="Montserrat"/>
                <a:cs typeface="Montserrat"/>
                <a:sym typeface="Montserrat"/>
              </a:rPr>
              <a:t>Oleh karena itu, penelitian ini bertujuan memodelkan hubungan semantik antara tagar dan potensi jangkauan konten TikTok menggunakan pendekatan Deep Learning.</a:t>
            </a:r>
          </a:p>
        </p:txBody>
      </p:sp>
      <p:sp>
        <p:nvSpPr>
          <p:cNvPr name="Freeform 21" id="21"/>
          <p:cNvSpPr/>
          <p:nvPr/>
        </p:nvSpPr>
        <p:spPr>
          <a:xfrm flipH="false" flipV="false" rot="0">
            <a:off x="339842" y="272045"/>
            <a:ext cx="2073285" cy="906255"/>
          </a:xfrm>
          <a:custGeom>
            <a:avLst/>
            <a:gdLst/>
            <a:ahLst/>
            <a:cxnLst/>
            <a:rect r="r" b="b" t="t" l="l"/>
            <a:pathLst>
              <a:path h="906255" w="2073285">
                <a:moveTo>
                  <a:pt x="0" y="0"/>
                </a:moveTo>
                <a:lnTo>
                  <a:pt x="2073285" y="0"/>
                </a:lnTo>
                <a:lnTo>
                  <a:pt x="2073285" y="906255"/>
                </a:lnTo>
                <a:lnTo>
                  <a:pt x="0" y="906255"/>
                </a:lnTo>
                <a:lnTo>
                  <a:pt x="0" y="0"/>
                </a:lnTo>
                <a:close/>
              </a:path>
            </a:pathLst>
          </a:custGeom>
          <a:blipFill>
            <a:blip r:embed="rId7"/>
            <a:stretch>
              <a:fillRect l="0" t="0" r="0" b="-10288"/>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70685" y="-234386"/>
            <a:ext cx="6557091" cy="10859091"/>
            <a:chOff x="0" y="0"/>
            <a:chExt cx="1726970" cy="2860007"/>
          </a:xfrm>
        </p:grpSpPr>
        <p:sp>
          <p:nvSpPr>
            <p:cNvPr name="Freeform 3" id="3"/>
            <p:cNvSpPr/>
            <p:nvPr/>
          </p:nvSpPr>
          <p:spPr>
            <a:xfrm flipH="false" flipV="false" rot="0">
              <a:off x="0" y="0"/>
              <a:ext cx="1726971" cy="2860007"/>
            </a:xfrm>
            <a:custGeom>
              <a:avLst/>
              <a:gdLst/>
              <a:ahLst/>
              <a:cxnLst/>
              <a:rect r="r" b="b" t="t" l="l"/>
              <a:pathLst>
                <a:path h="2860007" w="1726971">
                  <a:moveTo>
                    <a:pt x="0" y="0"/>
                  </a:moveTo>
                  <a:lnTo>
                    <a:pt x="1726971" y="0"/>
                  </a:lnTo>
                  <a:lnTo>
                    <a:pt x="1726971" y="2860007"/>
                  </a:lnTo>
                  <a:lnTo>
                    <a:pt x="0" y="2860007"/>
                  </a:lnTo>
                  <a:close/>
                </a:path>
              </a:pathLst>
            </a:custGeom>
            <a:solidFill>
              <a:srgbClr val="172406"/>
            </a:solidFill>
          </p:spPr>
        </p:sp>
        <p:sp>
          <p:nvSpPr>
            <p:cNvPr name="TextBox 4" id="4"/>
            <p:cNvSpPr txBox="true"/>
            <p:nvPr/>
          </p:nvSpPr>
          <p:spPr>
            <a:xfrm>
              <a:off x="0" y="-38100"/>
              <a:ext cx="1726970" cy="2898107"/>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291664" y="2362837"/>
            <a:ext cx="4927476" cy="492747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36137" y="0"/>
                  </a:moveTo>
                  <a:lnTo>
                    <a:pt x="776663" y="0"/>
                  </a:lnTo>
                  <a:cubicBezTo>
                    <a:pt x="786247" y="0"/>
                    <a:pt x="795439" y="3807"/>
                    <a:pt x="802216" y="10584"/>
                  </a:cubicBezTo>
                  <a:cubicBezTo>
                    <a:pt x="808993" y="17361"/>
                    <a:pt x="812800" y="26553"/>
                    <a:pt x="812800" y="36137"/>
                  </a:cubicBezTo>
                  <a:lnTo>
                    <a:pt x="812800" y="776663"/>
                  </a:lnTo>
                  <a:cubicBezTo>
                    <a:pt x="812800" y="786247"/>
                    <a:pt x="808993" y="795439"/>
                    <a:pt x="802216" y="802216"/>
                  </a:cubicBezTo>
                  <a:cubicBezTo>
                    <a:pt x="795439" y="808993"/>
                    <a:pt x="786247" y="812800"/>
                    <a:pt x="776663" y="812800"/>
                  </a:cubicBezTo>
                  <a:lnTo>
                    <a:pt x="36137" y="812800"/>
                  </a:lnTo>
                  <a:cubicBezTo>
                    <a:pt x="26553" y="812800"/>
                    <a:pt x="17361" y="808993"/>
                    <a:pt x="10584" y="802216"/>
                  </a:cubicBezTo>
                  <a:cubicBezTo>
                    <a:pt x="3807" y="795439"/>
                    <a:pt x="0" y="786247"/>
                    <a:pt x="0" y="776663"/>
                  </a:cubicBezTo>
                  <a:lnTo>
                    <a:pt x="0" y="36137"/>
                  </a:lnTo>
                  <a:cubicBezTo>
                    <a:pt x="0" y="26553"/>
                    <a:pt x="3807" y="17361"/>
                    <a:pt x="10584" y="10584"/>
                  </a:cubicBezTo>
                  <a:cubicBezTo>
                    <a:pt x="17361" y="3807"/>
                    <a:pt x="26553" y="0"/>
                    <a:pt x="36137" y="0"/>
                  </a:cubicBezTo>
                  <a:close/>
                </a:path>
              </a:pathLst>
            </a:custGeom>
            <a:blipFill>
              <a:blip r:embed="rId2"/>
              <a:stretch>
                <a:fillRect l="-58576" t="0" r="-41423" b="0"/>
              </a:stretch>
            </a:blipFill>
            <a:ln w="85725" cap="rnd">
              <a:solidFill>
                <a:srgbClr val="FFFFFF"/>
              </a:solidFill>
              <a:prstDash val="solid"/>
              <a:round/>
            </a:ln>
          </p:spPr>
        </p:sp>
      </p:grpSp>
      <p:grpSp>
        <p:nvGrpSpPr>
          <p:cNvPr name="Group 7" id="7"/>
          <p:cNvGrpSpPr/>
          <p:nvPr/>
        </p:nvGrpSpPr>
        <p:grpSpPr>
          <a:xfrm rot="0">
            <a:off x="-342035" y="9258300"/>
            <a:ext cx="1531460" cy="871623"/>
            <a:chOff x="0" y="0"/>
            <a:chExt cx="403348" cy="229563"/>
          </a:xfrm>
        </p:grpSpPr>
        <p:sp>
          <p:nvSpPr>
            <p:cNvPr name="Freeform 8" id="8"/>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FFFFFF"/>
            </a:solidFill>
          </p:spPr>
        </p:sp>
        <p:sp>
          <p:nvSpPr>
            <p:cNvPr name="TextBox 9" id="9"/>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6592478" y="7267893"/>
            <a:ext cx="2693192" cy="3980814"/>
          </a:xfrm>
          <a:custGeom>
            <a:avLst/>
            <a:gdLst/>
            <a:ahLst/>
            <a:cxnLst/>
            <a:rect r="r" b="b" t="t" l="l"/>
            <a:pathLst>
              <a:path h="3980814" w="2693192">
                <a:moveTo>
                  <a:pt x="0" y="0"/>
                </a:moveTo>
                <a:lnTo>
                  <a:pt x="2693193" y="0"/>
                </a:lnTo>
                <a:lnTo>
                  <a:pt x="2693193" y="3980814"/>
                </a:lnTo>
                <a:lnTo>
                  <a:pt x="0" y="39808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3909959" y="8841586"/>
            <a:ext cx="1450345" cy="1450345"/>
          </a:xfrm>
          <a:custGeom>
            <a:avLst/>
            <a:gdLst/>
            <a:ahLst/>
            <a:cxnLst/>
            <a:rect r="r" b="b" t="t" l="l"/>
            <a:pathLst>
              <a:path h="1450345" w="1450345">
                <a:moveTo>
                  <a:pt x="0" y="0"/>
                </a:moveTo>
                <a:lnTo>
                  <a:pt x="1450346" y="0"/>
                </a:lnTo>
                <a:lnTo>
                  <a:pt x="1450346" y="1450345"/>
                </a:lnTo>
                <a:lnTo>
                  <a:pt x="0" y="14503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498912" y="736768"/>
            <a:ext cx="2478699" cy="891145"/>
            <a:chOff x="0" y="0"/>
            <a:chExt cx="508152" cy="182692"/>
          </a:xfrm>
        </p:grpSpPr>
        <p:sp>
          <p:nvSpPr>
            <p:cNvPr name="Freeform 13" id="13"/>
            <p:cNvSpPr/>
            <p:nvPr/>
          </p:nvSpPr>
          <p:spPr>
            <a:xfrm flipH="false" flipV="false" rot="0">
              <a:off x="0" y="0"/>
              <a:ext cx="508152" cy="182692"/>
            </a:xfrm>
            <a:custGeom>
              <a:avLst/>
              <a:gdLst/>
              <a:ahLst/>
              <a:cxnLst/>
              <a:rect r="r" b="b" t="t" l="l"/>
              <a:pathLst>
                <a:path h="182692" w="508152">
                  <a:moveTo>
                    <a:pt x="61004" y="0"/>
                  </a:moveTo>
                  <a:lnTo>
                    <a:pt x="447148" y="0"/>
                  </a:lnTo>
                  <a:cubicBezTo>
                    <a:pt x="480840" y="0"/>
                    <a:pt x="508152" y="27312"/>
                    <a:pt x="508152" y="61004"/>
                  </a:cubicBezTo>
                  <a:lnTo>
                    <a:pt x="508152" y="121688"/>
                  </a:lnTo>
                  <a:cubicBezTo>
                    <a:pt x="508152" y="137867"/>
                    <a:pt x="501725" y="153384"/>
                    <a:pt x="490285" y="164824"/>
                  </a:cubicBezTo>
                  <a:cubicBezTo>
                    <a:pt x="478844" y="176264"/>
                    <a:pt x="463328" y="182692"/>
                    <a:pt x="447148" y="182692"/>
                  </a:cubicBezTo>
                  <a:lnTo>
                    <a:pt x="61004" y="182692"/>
                  </a:lnTo>
                  <a:cubicBezTo>
                    <a:pt x="27312" y="182692"/>
                    <a:pt x="0" y="155379"/>
                    <a:pt x="0" y="121688"/>
                  </a:cubicBezTo>
                  <a:lnTo>
                    <a:pt x="0" y="61004"/>
                  </a:lnTo>
                  <a:cubicBezTo>
                    <a:pt x="0" y="27312"/>
                    <a:pt x="27312" y="0"/>
                    <a:pt x="61004" y="0"/>
                  </a:cubicBezTo>
                  <a:close/>
                </a:path>
              </a:pathLst>
            </a:custGeom>
            <a:solidFill>
              <a:srgbClr val="FFFFFF"/>
            </a:solidFill>
          </p:spPr>
        </p:sp>
        <p:sp>
          <p:nvSpPr>
            <p:cNvPr name="TextBox 14" id="14"/>
            <p:cNvSpPr txBox="true"/>
            <p:nvPr/>
          </p:nvSpPr>
          <p:spPr>
            <a:xfrm>
              <a:off x="0" y="-38100"/>
              <a:ext cx="508152" cy="220792"/>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651312" y="670093"/>
            <a:ext cx="2104090" cy="919720"/>
          </a:xfrm>
          <a:custGeom>
            <a:avLst/>
            <a:gdLst/>
            <a:ahLst/>
            <a:cxnLst/>
            <a:rect r="r" b="b" t="t" l="l"/>
            <a:pathLst>
              <a:path h="919720" w="2104090">
                <a:moveTo>
                  <a:pt x="0" y="0"/>
                </a:moveTo>
                <a:lnTo>
                  <a:pt x="2104090" y="0"/>
                </a:lnTo>
                <a:lnTo>
                  <a:pt x="2104090" y="919720"/>
                </a:lnTo>
                <a:lnTo>
                  <a:pt x="0" y="919720"/>
                </a:lnTo>
                <a:lnTo>
                  <a:pt x="0" y="0"/>
                </a:lnTo>
                <a:close/>
              </a:path>
            </a:pathLst>
          </a:custGeom>
          <a:blipFill>
            <a:blip r:embed="rId7"/>
            <a:stretch>
              <a:fillRect l="0" t="0" r="0" b="-10288"/>
            </a:stretch>
          </a:blipFill>
        </p:spPr>
      </p:sp>
      <p:grpSp>
        <p:nvGrpSpPr>
          <p:cNvPr name="Group 16" id="16"/>
          <p:cNvGrpSpPr/>
          <p:nvPr/>
        </p:nvGrpSpPr>
        <p:grpSpPr>
          <a:xfrm rot="0">
            <a:off x="5883413" y="3223611"/>
            <a:ext cx="691702" cy="69170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CC0DF"/>
            </a:solidFill>
          </p:spPr>
        </p:sp>
        <p:sp>
          <p:nvSpPr>
            <p:cNvPr name="TextBox 18" id="18"/>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2479709" y="3223611"/>
            <a:ext cx="691702" cy="69170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CC0DF"/>
            </a:solidFill>
          </p:spPr>
        </p:sp>
        <p:sp>
          <p:nvSpPr>
            <p:cNvPr name="TextBox 21" id="21"/>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7144409" y="1732688"/>
            <a:ext cx="9104111" cy="657225"/>
          </a:xfrm>
          <a:prstGeom prst="rect">
            <a:avLst/>
          </a:prstGeom>
        </p:spPr>
        <p:txBody>
          <a:bodyPr anchor="t" rtlCol="false" tIns="0" lIns="0" bIns="0" rIns="0">
            <a:spAutoFit/>
          </a:bodyPr>
          <a:lstStyle/>
          <a:p>
            <a:pPr algn="l">
              <a:lnSpc>
                <a:spcPts val="4950"/>
              </a:lnSpc>
            </a:pPr>
            <a:r>
              <a:rPr lang="en-US" sz="5000" b="true">
                <a:solidFill>
                  <a:srgbClr val="172406"/>
                </a:solidFill>
                <a:latin typeface="Montserrat Ultra-Bold"/>
                <a:ea typeface="Montserrat Ultra-Bold"/>
                <a:cs typeface="Montserrat Ultra-Bold"/>
                <a:sym typeface="Montserrat Ultra-Bold"/>
              </a:rPr>
              <a:t>Rumus Masalah &amp; Tujuan </a:t>
            </a:r>
          </a:p>
        </p:txBody>
      </p:sp>
      <p:sp>
        <p:nvSpPr>
          <p:cNvPr name="TextBox 23" id="23"/>
          <p:cNvSpPr txBox="true"/>
          <p:nvPr/>
        </p:nvSpPr>
        <p:spPr>
          <a:xfrm rot="0">
            <a:off x="6229264" y="3989705"/>
            <a:ext cx="5324489" cy="3887470"/>
          </a:xfrm>
          <a:prstGeom prst="rect">
            <a:avLst/>
          </a:prstGeom>
        </p:spPr>
        <p:txBody>
          <a:bodyPr anchor="t" rtlCol="false" tIns="0" lIns="0" bIns="0" rIns="0">
            <a:spAutoFit/>
          </a:bodyPr>
          <a:lstStyle/>
          <a:p>
            <a:pPr algn="l" marL="474983" indent="-237491" lvl="1">
              <a:lnSpc>
                <a:spcPts val="3080"/>
              </a:lnSpc>
              <a:buAutoNum type="arabicPeriod" startAt="1"/>
            </a:pPr>
            <a:r>
              <a:rPr lang="en-US" sz="2200">
                <a:solidFill>
                  <a:srgbClr val="172406"/>
                </a:solidFill>
                <a:latin typeface="Montserrat"/>
                <a:ea typeface="Montserrat"/>
                <a:cs typeface="Montserrat"/>
                <a:sym typeface="Montserrat"/>
              </a:rPr>
              <a:t>Bagaimana memodelkan hubungan semantik tagar dan jangkauan konten?</a:t>
            </a:r>
          </a:p>
          <a:p>
            <a:pPr algn="l" marL="474983" indent="-237491" lvl="1">
              <a:lnSpc>
                <a:spcPts val="3080"/>
              </a:lnSpc>
              <a:buAutoNum type="arabicPeriod" startAt="1"/>
            </a:pPr>
            <a:r>
              <a:rPr lang="en-US" sz="2200">
                <a:solidFill>
                  <a:srgbClr val="172406"/>
                </a:solidFill>
                <a:latin typeface="Montserrat"/>
                <a:ea typeface="Montserrat"/>
                <a:cs typeface="Montserrat"/>
                <a:sym typeface="Montserrat"/>
              </a:rPr>
              <a:t>Bagaimana membangun model ANN untuk klasifikasi high view dan low view?</a:t>
            </a:r>
          </a:p>
          <a:p>
            <a:pPr algn="l" marL="474983" indent="-237491" lvl="1">
              <a:lnSpc>
                <a:spcPts val="3080"/>
              </a:lnSpc>
              <a:buAutoNum type="arabicPeriod" startAt="1"/>
            </a:pPr>
            <a:r>
              <a:rPr lang="en-US" sz="2200">
                <a:solidFill>
                  <a:srgbClr val="172406"/>
                </a:solidFill>
                <a:latin typeface="Montserrat"/>
                <a:ea typeface="Montserrat"/>
                <a:cs typeface="Montserrat"/>
                <a:sym typeface="Montserrat"/>
              </a:rPr>
              <a:t>Bagaimana performa Deep Learning dibanding Random Forest?</a:t>
            </a:r>
          </a:p>
          <a:p>
            <a:pPr algn="l">
              <a:lnSpc>
                <a:spcPts val="3080"/>
              </a:lnSpc>
            </a:pPr>
          </a:p>
        </p:txBody>
      </p:sp>
      <p:sp>
        <p:nvSpPr>
          <p:cNvPr name="TextBox 24" id="24"/>
          <p:cNvSpPr txBox="true"/>
          <p:nvPr/>
        </p:nvSpPr>
        <p:spPr>
          <a:xfrm rot="0">
            <a:off x="12296703" y="3989705"/>
            <a:ext cx="4987756" cy="3106420"/>
          </a:xfrm>
          <a:prstGeom prst="rect">
            <a:avLst/>
          </a:prstGeom>
        </p:spPr>
        <p:txBody>
          <a:bodyPr anchor="t" rtlCol="false" tIns="0" lIns="0" bIns="0" rIns="0">
            <a:spAutoFit/>
          </a:bodyPr>
          <a:lstStyle/>
          <a:p>
            <a:pPr algn="l" marL="474983" indent="-237491" lvl="1">
              <a:lnSpc>
                <a:spcPts val="3080"/>
              </a:lnSpc>
              <a:buFont typeface="Arial"/>
              <a:buChar char="•"/>
            </a:pPr>
            <a:r>
              <a:rPr lang="en-US" sz="2200">
                <a:solidFill>
                  <a:srgbClr val="172406"/>
                </a:solidFill>
                <a:latin typeface="Montserrat"/>
                <a:ea typeface="Montserrat"/>
                <a:cs typeface="Montserrat"/>
                <a:sym typeface="Montserrat"/>
              </a:rPr>
              <a:t>Mengembangkan model Deep Learning berbasis word embedding</a:t>
            </a:r>
          </a:p>
          <a:p>
            <a:pPr algn="l" marL="474983" indent="-237491" lvl="1">
              <a:lnSpc>
                <a:spcPts val="3080"/>
              </a:lnSpc>
              <a:buFont typeface="Arial"/>
              <a:buChar char="•"/>
            </a:pPr>
            <a:r>
              <a:rPr lang="en-US" sz="2200">
                <a:solidFill>
                  <a:srgbClr val="172406"/>
                </a:solidFill>
                <a:latin typeface="Montserrat"/>
                <a:ea typeface="Montserrat"/>
                <a:cs typeface="Montserrat"/>
                <a:sym typeface="Montserrat"/>
              </a:rPr>
              <a:t>Memprediksi potensi jangkauan konten TikTok</a:t>
            </a:r>
          </a:p>
          <a:p>
            <a:pPr algn="l" marL="474983" indent="-237491" lvl="1">
              <a:lnSpc>
                <a:spcPts val="3080"/>
              </a:lnSpc>
              <a:buFont typeface="Arial"/>
              <a:buChar char="•"/>
            </a:pPr>
            <a:r>
              <a:rPr lang="en-US" sz="2200">
                <a:solidFill>
                  <a:srgbClr val="172406"/>
                </a:solidFill>
                <a:latin typeface="Montserrat"/>
                <a:ea typeface="Montserrat"/>
                <a:cs typeface="Montserrat"/>
                <a:sym typeface="Montserrat"/>
              </a:rPr>
              <a:t>Membandingkan performa dengan model baseline</a:t>
            </a:r>
          </a:p>
          <a:p>
            <a:pPr algn="l">
              <a:lnSpc>
                <a:spcPts val="3080"/>
              </a:lnSpc>
            </a:pPr>
          </a:p>
        </p:txBody>
      </p:sp>
      <p:sp>
        <p:nvSpPr>
          <p:cNvPr name="TextBox 25" id="25"/>
          <p:cNvSpPr txBox="true"/>
          <p:nvPr/>
        </p:nvSpPr>
        <p:spPr>
          <a:xfrm rot="0">
            <a:off x="161220" y="9299777"/>
            <a:ext cx="675384" cy="712470"/>
          </a:xfrm>
          <a:prstGeom prst="rect">
            <a:avLst/>
          </a:prstGeom>
        </p:spPr>
        <p:txBody>
          <a:bodyPr anchor="t" rtlCol="false" tIns="0" lIns="0" bIns="0" rIns="0">
            <a:spAutoFit/>
          </a:bodyPr>
          <a:lstStyle/>
          <a:p>
            <a:pPr algn="ctr">
              <a:lnSpc>
                <a:spcPts val="5880"/>
              </a:lnSpc>
            </a:pPr>
            <a:r>
              <a:rPr lang="en-US" b="true" sz="4200">
                <a:solidFill>
                  <a:srgbClr val="172406"/>
                </a:solidFill>
                <a:latin typeface="Montserrat Bold"/>
                <a:ea typeface="Montserrat Bold"/>
                <a:cs typeface="Montserrat Bold"/>
                <a:sym typeface="Montserrat Bold"/>
              </a:rPr>
              <a:t>4</a:t>
            </a:r>
          </a:p>
        </p:txBody>
      </p:sp>
      <p:sp>
        <p:nvSpPr>
          <p:cNvPr name="TextBox 26" id="26"/>
          <p:cNvSpPr txBox="true"/>
          <p:nvPr/>
        </p:nvSpPr>
        <p:spPr>
          <a:xfrm rot="0">
            <a:off x="6671950" y="3402778"/>
            <a:ext cx="3693518" cy="397034"/>
          </a:xfrm>
          <a:prstGeom prst="rect">
            <a:avLst/>
          </a:prstGeom>
        </p:spPr>
        <p:txBody>
          <a:bodyPr anchor="t" rtlCol="false" tIns="0" lIns="0" bIns="0" rIns="0">
            <a:spAutoFit/>
          </a:bodyPr>
          <a:lstStyle/>
          <a:p>
            <a:pPr algn="l">
              <a:lnSpc>
                <a:spcPts val="3070"/>
              </a:lnSpc>
            </a:pPr>
            <a:r>
              <a:rPr lang="en-US" sz="3101" u="sng" b="true">
                <a:solidFill>
                  <a:srgbClr val="172406"/>
                </a:solidFill>
                <a:latin typeface="Montserrat Ultra-Bold"/>
                <a:ea typeface="Montserrat Ultra-Bold"/>
                <a:cs typeface="Montserrat Ultra-Bold"/>
                <a:sym typeface="Montserrat Ultra-Bold"/>
              </a:rPr>
              <a:t>Rumus Masalah</a:t>
            </a:r>
          </a:p>
        </p:txBody>
      </p:sp>
      <p:sp>
        <p:nvSpPr>
          <p:cNvPr name="TextBox 27" id="27"/>
          <p:cNvSpPr txBox="true"/>
          <p:nvPr/>
        </p:nvSpPr>
        <p:spPr>
          <a:xfrm rot="0">
            <a:off x="13394332" y="3402778"/>
            <a:ext cx="3693518" cy="397034"/>
          </a:xfrm>
          <a:prstGeom prst="rect">
            <a:avLst/>
          </a:prstGeom>
        </p:spPr>
        <p:txBody>
          <a:bodyPr anchor="t" rtlCol="false" tIns="0" lIns="0" bIns="0" rIns="0">
            <a:spAutoFit/>
          </a:bodyPr>
          <a:lstStyle/>
          <a:p>
            <a:pPr algn="l">
              <a:lnSpc>
                <a:spcPts val="3070"/>
              </a:lnSpc>
            </a:pPr>
            <a:r>
              <a:rPr lang="en-US" sz="3101" u="sng" b="true">
                <a:solidFill>
                  <a:srgbClr val="172406"/>
                </a:solidFill>
                <a:latin typeface="Montserrat Ultra-Bold"/>
                <a:ea typeface="Montserrat Ultra-Bold"/>
                <a:cs typeface="Montserrat Ultra-Bold"/>
                <a:sym typeface="Montserrat Ultra-Bold"/>
              </a:rPr>
              <a:t>Tujuan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70685" y="-234386"/>
            <a:ext cx="6557091" cy="10859091"/>
            <a:chOff x="0" y="0"/>
            <a:chExt cx="1726970" cy="2860007"/>
          </a:xfrm>
        </p:grpSpPr>
        <p:sp>
          <p:nvSpPr>
            <p:cNvPr name="Freeform 3" id="3"/>
            <p:cNvSpPr/>
            <p:nvPr/>
          </p:nvSpPr>
          <p:spPr>
            <a:xfrm flipH="false" flipV="false" rot="0">
              <a:off x="0" y="0"/>
              <a:ext cx="1726971" cy="2860007"/>
            </a:xfrm>
            <a:custGeom>
              <a:avLst/>
              <a:gdLst/>
              <a:ahLst/>
              <a:cxnLst/>
              <a:rect r="r" b="b" t="t" l="l"/>
              <a:pathLst>
                <a:path h="2860007" w="1726971">
                  <a:moveTo>
                    <a:pt x="0" y="0"/>
                  </a:moveTo>
                  <a:lnTo>
                    <a:pt x="1726971" y="0"/>
                  </a:lnTo>
                  <a:lnTo>
                    <a:pt x="1726971" y="2860007"/>
                  </a:lnTo>
                  <a:lnTo>
                    <a:pt x="0" y="2860007"/>
                  </a:lnTo>
                  <a:close/>
                </a:path>
              </a:pathLst>
            </a:custGeom>
            <a:solidFill>
              <a:srgbClr val="172406"/>
            </a:solidFill>
          </p:spPr>
        </p:sp>
        <p:sp>
          <p:nvSpPr>
            <p:cNvPr name="TextBox 4" id="4"/>
            <p:cNvSpPr txBox="true"/>
            <p:nvPr/>
          </p:nvSpPr>
          <p:spPr>
            <a:xfrm>
              <a:off x="0" y="-38100"/>
              <a:ext cx="1726970" cy="2898107"/>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42035" y="9258300"/>
            <a:ext cx="1531460" cy="871623"/>
            <a:chOff x="0" y="0"/>
            <a:chExt cx="403348" cy="229563"/>
          </a:xfrm>
        </p:grpSpPr>
        <p:sp>
          <p:nvSpPr>
            <p:cNvPr name="Freeform 6" id="6"/>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FFFFFF"/>
            </a:solidFill>
          </p:spPr>
        </p:sp>
        <p:sp>
          <p:nvSpPr>
            <p:cNvPr name="TextBox 7" id="7"/>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6592478" y="7267893"/>
            <a:ext cx="2693192" cy="3980814"/>
          </a:xfrm>
          <a:custGeom>
            <a:avLst/>
            <a:gdLst/>
            <a:ahLst/>
            <a:cxnLst/>
            <a:rect r="r" b="b" t="t" l="l"/>
            <a:pathLst>
              <a:path h="3980814" w="2693192">
                <a:moveTo>
                  <a:pt x="0" y="0"/>
                </a:moveTo>
                <a:lnTo>
                  <a:pt x="2693193" y="0"/>
                </a:lnTo>
                <a:lnTo>
                  <a:pt x="2693193" y="3980814"/>
                </a:lnTo>
                <a:lnTo>
                  <a:pt x="0" y="39808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909959" y="8841586"/>
            <a:ext cx="1450345" cy="1450345"/>
          </a:xfrm>
          <a:custGeom>
            <a:avLst/>
            <a:gdLst/>
            <a:ahLst/>
            <a:cxnLst/>
            <a:rect r="r" b="b" t="t" l="l"/>
            <a:pathLst>
              <a:path h="1450345" w="1450345">
                <a:moveTo>
                  <a:pt x="0" y="0"/>
                </a:moveTo>
                <a:lnTo>
                  <a:pt x="1450346" y="0"/>
                </a:lnTo>
                <a:lnTo>
                  <a:pt x="1450346" y="1450345"/>
                </a:lnTo>
                <a:lnTo>
                  <a:pt x="0" y="14503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498912" y="736768"/>
            <a:ext cx="2478699" cy="891145"/>
            <a:chOff x="0" y="0"/>
            <a:chExt cx="508152" cy="182692"/>
          </a:xfrm>
        </p:grpSpPr>
        <p:sp>
          <p:nvSpPr>
            <p:cNvPr name="Freeform 11" id="11"/>
            <p:cNvSpPr/>
            <p:nvPr/>
          </p:nvSpPr>
          <p:spPr>
            <a:xfrm flipH="false" flipV="false" rot="0">
              <a:off x="0" y="0"/>
              <a:ext cx="508152" cy="182692"/>
            </a:xfrm>
            <a:custGeom>
              <a:avLst/>
              <a:gdLst/>
              <a:ahLst/>
              <a:cxnLst/>
              <a:rect r="r" b="b" t="t" l="l"/>
              <a:pathLst>
                <a:path h="182692" w="508152">
                  <a:moveTo>
                    <a:pt x="61004" y="0"/>
                  </a:moveTo>
                  <a:lnTo>
                    <a:pt x="447148" y="0"/>
                  </a:lnTo>
                  <a:cubicBezTo>
                    <a:pt x="480840" y="0"/>
                    <a:pt x="508152" y="27312"/>
                    <a:pt x="508152" y="61004"/>
                  </a:cubicBezTo>
                  <a:lnTo>
                    <a:pt x="508152" y="121688"/>
                  </a:lnTo>
                  <a:cubicBezTo>
                    <a:pt x="508152" y="137867"/>
                    <a:pt x="501725" y="153384"/>
                    <a:pt x="490285" y="164824"/>
                  </a:cubicBezTo>
                  <a:cubicBezTo>
                    <a:pt x="478844" y="176264"/>
                    <a:pt x="463328" y="182692"/>
                    <a:pt x="447148" y="182692"/>
                  </a:cubicBezTo>
                  <a:lnTo>
                    <a:pt x="61004" y="182692"/>
                  </a:lnTo>
                  <a:cubicBezTo>
                    <a:pt x="27312" y="182692"/>
                    <a:pt x="0" y="155379"/>
                    <a:pt x="0" y="121688"/>
                  </a:cubicBezTo>
                  <a:lnTo>
                    <a:pt x="0" y="61004"/>
                  </a:lnTo>
                  <a:cubicBezTo>
                    <a:pt x="0" y="27312"/>
                    <a:pt x="27312" y="0"/>
                    <a:pt x="61004" y="0"/>
                  </a:cubicBezTo>
                  <a:close/>
                </a:path>
              </a:pathLst>
            </a:custGeom>
            <a:solidFill>
              <a:srgbClr val="FFFFFF"/>
            </a:solidFill>
          </p:spPr>
        </p:sp>
        <p:sp>
          <p:nvSpPr>
            <p:cNvPr name="TextBox 12" id="12"/>
            <p:cNvSpPr txBox="true"/>
            <p:nvPr/>
          </p:nvSpPr>
          <p:spPr>
            <a:xfrm>
              <a:off x="0" y="-38100"/>
              <a:ext cx="508152" cy="220792"/>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651312" y="670093"/>
            <a:ext cx="2104090" cy="919720"/>
          </a:xfrm>
          <a:custGeom>
            <a:avLst/>
            <a:gdLst/>
            <a:ahLst/>
            <a:cxnLst/>
            <a:rect r="r" b="b" t="t" l="l"/>
            <a:pathLst>
              <a:path h="919720" w="2104090">
                <a:moveTo>
                  <a:pt x="0" y="0"/>
                </a:moveTo>
                <a:lnTo>
                  <a:pt x="2104090" y="0"/>
                </a:lnTo>
                <a:lnTo>
                  <a:pt x="2104090" y="919720"/>
                </a:lnTo>
                <a:lnTo>
                  <a:pt x="0" y="919720"/>
                </a:lnTo>
                <a:lnTo>
                  <a:pt x="0" y="0"/>
                </a:lnTo>
                <a:close/>
              </a:path>
            </a:pathLst>
          </a:custGeom>
          <a:blipFill>
            <a:blip r:embed="rId6"/>
            <a:stretch>
              <a:fillRect l="0" t="0" r="0" b="-10288"/>
            </a:stretch>
          </a:blipFill>
        </p:spPr>
      </p:sp>
      <p:sp>
        <p:nvSpPr>
          <p:cNvPr name="Freeform 14" id="14"/>
          <p:cNvSpPr/>
          <p:nvPr/>
        </p:nvSpPr>
        <p:spPr>
          <a:xfrm flipH="false" flipV="false" rot="0">
            <a:off x="15867306" y="303527"/>
            <a:ext cx="1450345" cy="1450345"/>
          </a:xfrm>
          <a:custGeom>
            <a:avLst/>
            <a:gdLst/>
            <a:ahLst/>
            <a:cxnLst/>
            <a:rect r="r" b="b" t="t" l="l"/>
            <a:pathLst>
              <a:path h="1450345" w="1450345">
                <a:moveTo>
                  <a:pt x="0" y="0"/>
                </a:moveTo>
                <a:lnTo>
                  <a:pt x="1450345" y="0"/>
                </a:lnTo>
                <a:lnTo>
                  <a:pt x="1450345" y="1450346"/>
                </a:lnTo>
                <a:lnTo>
                  <a:pt x="0" y="14503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17213902" y="1637664"/>
            <a:ext cx="1450345" cy="1450345"/>
          </a:xfrm>
          <a:custGeom>
            <a:avLst/>
            <a:gdLst/>
            <a:ahLst/>
            <a:cxnLst/>
            <a:rect r="r" b="b" t="t" l="l"/>
            <a:pathLst>
              <a:path h="1450345" w="1450345">
                <a:moveTo>
                  <a:pt x="0" y="0"/>
                </a:moveTo>
                <a:lnTo>
                  <a:pt x="1450345" y="0"/>
                </a:lnTo>
                <a:lnTo>
                  <a:pt x="1450345" y="1450345"/>
                </a:lnTo>
                <a:lnTo>
                  <a:pt x="0" y="14503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1189426" y="2118041"/>
            <a:ext cx="3492547" cy="6446859"/>
          </a:xfrm>
          <a:custGeom>
            <a:avLst/>
            <a:gdLst/>
            <a:ahLst/>
            <a:cxnLst/>
            <a:rect r="r" b="b" t="t" l="l"/>
            <a:pathLst>
              <a:path h="6446859" w="3492547">
                <a:moveTo>
                  <a:pt x="0" y="0"/>
                </a:moveTo>
                <a:lnTo>
                  <a:pt x="3492547" y="0"/>
                </a:lnTo>
                <a:lnTo>
                  <a:pt x="3492547" y="6446860"/>
                </a:lnTo>
                <a:lnTo>
                  <a:pt x="0" y="6446860"/>
                </a:lnTo>
                <a:lnTo>
                  <a:pt x="0" y="0"/>
                </a:lnTo>
                <a:close/>
              </a:path>
            </a:pathLst>
          </a:custGeom>
          <a:blipFill>
            <a:blip r:embed="rId11"/>
            <a:stretch>
              <a:fillRect l="0" t="0" r="0" b="0"/>
            </a:stretch>
          </a:blipFill>
        </p:spPr>
      </p:sp>
      <p:sp>
        <p:nvSpPr>
          <p:cNvPr name="TextBox 17" id="17"/>
          <p:cNvSpPr txBox="true"/>
          <p:nvPr/>
        </p:nvSpPr>
        <p:spPr>
          <a:xfrm rot="0">
            <a:off x="8229420" y="1494479"/>
            <a:ext cx="5675530" cy="623562"/>
          </a:xfrm>
          <a:prstGeom prst="rect">
            <a:avLst/>
          </a:prstGeom>
        </p:spPr>
        <p:txBody>
          <a:bodyPr anchor="t" rtlCol="false" tIns="0" lIns="0" bIns="0" rIns="0">
            <a:spAutoFit/>
          </a:bodyPr>
          <a:lstStyle/>
          <a:p>
            <a:pPr algn="l">
              <a:lnSpc>
                <a:spcPts val="4791"/>
              </a:lnSpc>
            </a:pPr>
            <a:r>
              <a:rPr lang="en-US" sz="4839" b="true">
                <a:solidFill>
                  <a:srgbClr val="172406"/>
                </a:solidFill>
                <a:latin typeface="Montserrat Ultra-Bold"/>
                <a:ea typeface="Montserrat Ultra-Bold"/>
                <a:cs typeface="Montserrat Ultra-Bold"/>
                <a:sym typeface="Montserrat Ultra-Bold"/>
              </a:rPr>
              <a:t>KONSEP SOLUSI</a:t>
            </a:r>
          </a:p>
        </p:txBody>
      </p:sp>
      <p:sp>
        <p:nvSpPr>
          <p:cNvPr name="TextBox 18" id="18"/>
          <p:cNvSpPr txBox="true"/>
          <p:nvPr/>
        </p:nvSpPr>
        <p:spPr>
          <a:xfrm rot="0">
            <a:off x="161220" y="9299777"/>
            <a:ext cx="675384" cy="712470"/>
          </a:xfrm>
          <a:prstGeom prst="rect">
            <a:avLst/>
          </a:prstGeom>
        </p:spPr>
        <p:txBody>
          <a:bodyPr anchor="t" rtlCol="false" tIns="0" lIns="0" bIns="0" rIns="0">
            <a:spAutoFit/>
          </a:bodyPr>
          <a:lstStyle/>
          <a:p>
            <a:pPr algn="ctr">
              <a:lnSpc>
                <a:spcPts val="5880"/>
              </a:lnSpc>
            </a:pPr>
            <a:r>
              <a:rPr lang="en-US" b="true" sz="4200">
                <a:solidFill>
                  <a:srgbClr val="172406"/>
                </a:solidFill>
                <a:latin typeface="Montserrat Bold"/>
                <a:ea typeface="Montserrat Bold"/>
                <a:cs typeface="Montserrat Bold"/>
                <a:sym typeface="Montserrat Bold"/>
              </a:rPr>
              <a:t>5</a:t>
            </a:r>
          </a:p>
        </p:txBody>
      </p:sp>
      <p:sp>
        <p:nvSpPr>
          <p:cNvPr name="TextBox 19" id="19"/>
          <p:cNvSpPr txBox="true"/>
          <p:nvPr/>
        </p:nvSpPr>
        <p:spPr>
          <a:xfrm rot="0">
            <a:off x="6722550" y="3049909"/>
            <a:ext cx="8450775" cy="5672598"/>
          </a:xfrm>
          <a:prstGeom prst="rect">
            <a:avLst/>
          </a:prstGeom>
        </p:spPr>
        <p:txBody>
          <a:bodyPr anchor="t" rtlCol="false" tIns="0" lIns="0" bIns="0" rIns="0">
            <a:spAutoFit/>
          </a:bodyPr>
          <a:lstStyle/>
          <a:p>
            <a:pPr algn="l">
              <a:lnSpc>
                <a:spcPts val="2802"/>
              </a:lnSpc>
            </a:pPr>
            <a:r>
              <a:rPr lang="en-US" sz="2001">
                <a:solidFill>
                  <a:srgbClr val="172406"/>
                </a:solidFill>
                <a:latin typeface="Montserrat"/>
                <a:ea typeface="Montserrat"/>
                <a:cs typeface="Montserrat"/>
                <a:sym typeface="Montserrat"/>
              </a:rPr>
              <a:t>Sistem AutoVibe Analytics menerima input berupa tagar dari konten TikTok yang akan dianalisis. Tagar tersebut direpresentasikan ke dalam bentuk word embedding untuk menangkap hubungan semantik antar kata.</a:t>
            </a:r>
          </a:p>
          <a:p>
            <a:pPr algn="l">
              <a:lnSpc>
                <a:spcPts val="2802"/>
              </a:lnSpc>
            </a:pPr>
          </a:p>
          <a:p>
            <a:pPr algn="l">
              <a:lnSpc>
                <a:spcPts val="2802"/>
              </a:lnSpc>
            </a:pPr>
            <a:r>
              <a:rPr lang="en-US" sz="2001">
                <a:solidFill>
                  <a:srgbClr val="172406"/>
                </a:solidFill>
                <a:latin typeface="Montserrat"/>
                <a:ea typeface="Montserrat"/>
                <a:cs typeface="Montserrat"/>
                <a:sym typeface="Montserrat"/>
              </a:rPr>
              <a:t>Representasi semantik ini kemudian diproses menggunakan Artificial Neural Network (ANN) untuk melakukan klasifikasi potensi jangkauan konten. Model mengelompokkan konten ke dalam dua kategori, yaitu High </a:t>
            </a:r>
          </a:p>
          <a:p>
            <a:pPr algn="l">
              <a:lnSpc>
                <a:spcPts val="2802"/>
              </a:lnSpc>
            </a:pPr>
            <a:r>
              <a:rPr lang="en-US" sz="2001">
                <a:solidFill>
                  <a:srgbClr val="172406"/>
                </a:solidFill>
                <a:latin typeface="Montserrat"/>
                <a:ea typeface="Montserrat"/>
                <a:cs typeface="Montserrat"/>
                <a:sym typeface="Montserrat"/>
              </a:rPr>
              <a:t>View dan Low View.</a:t>
            </a:r>
          </a:p>
          <a:p>
            <a:pPr algn="l">
              <a:lnSpc>
                <a:spcPts val="2802"/>
              </a:lnSpc>
            </a:pPr>
          </a:p>
          <a:p>
            <a:pPr algn="l">
              <a:lnSpc>
                <a:spcPts val="2802"/>
              </a:lnSpc>
            </a:pPr>
            <a:r>
              <a:rPr lang="en-US" sz="2001">
                <a:solidFill>
                  <a:srgbClr val="172406"/>
                </a:solidFill>
                <a:latin typeface="Montserrat"/>
                <a:ea typeface="Montserrat"/>
                <a:cs typeface="Montserrat"/>
                <a:sym typeface="Montserrat"/>
              </a:rPr>
              <a:t>Hasil prediksi digunakan sebagai Decision Support System yang membantu kreator atau pihak terkait dalam menentukan strategi pemilihan tagar agar jangkauan konten TikTok dapat dioptimalkan.</a:t>
            </a:r>
          </a:p>
          <a:p>
            <a:pPr algn="l">
              <a:lnSpc>
                <a:spcPts val="2802"/>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78745" y="7987521"/>
            <a:ext cx="3086100" cy="2558768"/>
            <a:chOff x="0" y="0"/>
            <a:chExt cx="812800" cy="673914"/>
          </a:xfrm>
        </p:grpSpPr>
        <p:sp>
          <p:nvSpPr>
            <p:cNvPr name="Freeform 3" id="3"/>
            <p:cNvSpPr/>
            <p:nvPr/>
          </p:nvSpPr>
          <p:spPr>
            <a:xfrm flipH="false" flipV="false" rot="0">
              <a:off x="0" y="0"/>
              <a:ext cx="812800" cy="673914"/>
            </a:xfrm>
            <a:custGeom>
              <a:avLst/>
              <a:gdLst/>
              <a:ahLst/>
              <a:cxnLst/>
              <a:rect r="r" b="b" t="t" l="l"/>
              <a:pathLst>
                <a:path h="673914" w="812800">
                  <a:moveTo>
                    <a:pt x="127941" y="0"/>
                  </a:moveTo>
                  <a:lnTo>
                    <a:pt x="684859" y="0"/>
                  </a:lnTo>
                  <a:cubicBezTo>
                    <a:pt x="718791" y="0"/>
                    <a:pt x="751333" y="13479"/>
                    <a:pt x="775327" y="37473"/>
                  </a:cubicBezTo>
                  <a:cubicBezTo>
                    <a:pt x="799321" y="61467"/>
                    <a:pt x="812800" y="94009"/>
                    <a:pt x="812800" y="127941"/>
                  </a:cubicBezTo>
                  <a:lnTo>
                    <a:pt x="812800" y="545973"/>
                  </a:lnTo>
                  <a:cubicBezTo>
                    <a:pt x="812800" y="579905"/>
                    <a:pt x="799321" y="612448"/>
                    <a:pt x="775327" y="636441"/>
                  </a:cubicBezTo>
                  <a:cubicBezTo>
                    <a:pt x="751333" y="660435"/>
                    <a:pt x="718791" y="673914"/>
                    <a:pt x="684859" y="673914"/>
                  </a:cubicBezTo>
                  <a:lnTo>
                    <a:pt x="127941" y="673914"/>
                  </a:lnTo>
                  <a:cubicBezTo>
                    <a:pt x="94009" y="673914"/>
                    <a:pt x="61467" y="660435"/>
                    <a:pt x="37473" y="636441"/>
                  </a:cubicBezTo>
                  <a:cubicBezTo>
                    <a:pt x="13479" y="612448"/>
                    <a:pt x="0" y="579905"/>
                    <a:pt x="0" y="545973"/>
                  </a:cubicBezTo>
                  <a:lnTo>
                    <a:pt x="0" y="127941"/>
                  </a:lnTo>
                  <a:cubicBezTo>
                    <a:pt x="0" y="94009"/>
                    <a:pt x="13479" y="61467"/>
                    <a:pt x="37473" y="37473"/>
                  </a:cubicBezTo>
                  <a:cubicBezTo>
                    <a:pt x="61467" y="13479"/>
                    <a:pt x="94009" y="0"/>
                    <a:pt x="127941" y="0"/>
                  </a:cubicBezTo>
                  <a:close/>
                </a:path>
              </a:pathLst>
            </a:custGeom>
            <a:solidFill>
              <a:srgbClr val="172406"/>
            </a:solidFill>
          </p:spPr>
        </p:sp>
        <p:sp>
          <p:nvSpPr>
            <p:cNvPr name="TextBox 4" id="4"/>
            <p:cNvSpPr txBox="true"/>
            <p:nvPr/>
          </p:nvSpPr>
          <p:spPr>
            <a:xfrm>
              <a:off x="0" y="-38100"/>
              <a:ext cx="812800" cy="71201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42035" y="9258300"/>
            <a:ext cx="1531460" cy="871623"/>
            <a:chOff x="0" y="0"/>
            <a:chExt cx="403348" cy="229563"/>
          </a:xfrm>
        </p:grpSpPr>
        <p:sp>
          <p:nvSpPr>
            <p:cNvPr name="Freeform 6" id="6"/>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172406"/>
            </a:solidFill>
          </p:spPr>
        </p:sp>
        <p:sp>
          <p:nvSpPr>
            <p:cNvPr name="TextBox 7" id="7"/>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1220" y="9299777"/>
            <a:ext cx="675384" cy="712470"/>
          </a:xfrm>
          <a:prstGeom prst="rect">
            <a:avLst/>
          </a:prstGeom>
        </p:spPr>
        <p:txBody>
          <a:bodyPr anchor="t" rtlCol="false" tIns="0" lIns="0" bIns="0" rIns="0">
            <a:spAutoFit/>
          </a:bodyPr>
          <a:lstStyle/>
          <a:p>
            <a:pPr algn="ctr">
              <a:lnSpc>
                <a:spcPts val="5880"/>
              </a:lnSpc>
            </a:pPr>
            <a:r>
              <a:rPr lang="en-US" b="true" sz="4200">
                <a:solidFill>
                  <a:srgbClr val="FFFFFF"/>
                </a:solidFill>
                <a:latin typeface="Montserrat Bold"/>
                <a:ea typeface="Montserrat Bold"/>
                <a:cs typeface="Montserrat Bold"/>
                <a:sym typeface="Montserrat Bold"/>
              </a:rPr>
              <a:t>6</a:t>
            </a:r>
          </a:p>
        </p:txBody>
      </p:sp>
      <p:sp>
        <p:nvSpPr>
          <p:cNvPr name="Freeform 9" id="9"/>
          <p:cNvSpPr/>
          <p:nvPr/>
        </p:nvSpPr>
        <p:spPr>
          <a:xfrm flipH="false" flipV="false" rot="0">
            <a:off x="16745100" y="0"/>
            <a:ext cx="1450345" cy="1450345"/>
          </a:xfrm>
          <a:custGeom>
            <a:avLst/>
            <a:gdLst/>
            <a:ahLst/>
            <a:cxnLst/>
            <a:rect r="r" b="b" t="t" l="l"/>
            <a:pathLst>
              <a:path h="1450345" w="1450345">
                <a:moveTo>
                  <a:pt x="0" y="0"/>
                </a:moveTo>
                <a:lnTo>
                  <a:pt x="1450345" y="0"/>
                </a:lnTo>
                <a:lnTo>
                  <a:pt x="1450345" y="1450345"/>
                </a:lnTo>
                <a:lnTo>
                  <a:pt x="0" y="1450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651312" y="8243766"/>
            <a:ext cx="1450345" cy="1450345"/>
          </a:xfrm>
          <a:custGeom>
            <a:avLst/>
            <a:gdLst/>
            <a:ahLst/>
            <a:cxnLst/>
            <a:rect r="r" b="b" t="t" l="l"/>
            <a:pathLst>
              <a:path h="1450345" w="1450345">
                <a:moveTo>
                  <a:pt x="0" y="0"/>
                </a:moveTo>
                <a:lnTo>
                  <a:pt x="1450345" y="0"/>
                </a:lnTo>
                <a:lnTo>
                  <a:pt x="1450345" y="1450346"/>
                </a:lnTo>
                <a:lnTo>
                  <a:pt x="0" y="14503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65855" y="1856271"/>
            <a:ext cx="15956289" cy="6043445"/>
          </a:xfrm>
          <a:custGeom>
            <a:avLst/>
            <a:gdLst/>
            <a:ahLst/>
            <a:cxnLst/>
            <a:rect r="r" b="b" t="t" l="l"/>
            <a:pathLst>
              <a:path h="6043445" w="15956289">
                <a:moveTo>
                  <a:pt x="0" y="0"/>
                </a:moveTo>
                <a:lnTo>
                  <a:pt x="15956290" y="0"/>
                </a:lnTo>
                <a:lnTo>
                  <a:pt x="15956290" y="6043445"/>
                </a:lnTo>
                <a:lnTo>
                  <a:pt x="0" y="6043445"/>
                </a:lnTo>
                <a:lnTo>
                  <a:pt x="0" y="0"/>
                </a:lnTo>
                <a:close/>
              </a:path>
            </a:pathLst>
          </a:custGeom>
          <a:blipFill>
            <a:blip r:embed="rId4"/>
            <a:stretch>
              <a:fillRect l="0" t="0" r="0" b="0"/>
            </a:stretch>
          </a:blipFill>
        </p:spPr>
      </p:sp>
      <p:sp>
        <p:nvSpPr>
          <p:cNvPr name="TextBox 12" id="12"/>
          <p:cNvSpPr txBox="true"/>
          <p:nvPr/>
        </p:nvSpPr>
        <p:spPr>
          <a:xfrm rot="0">
            <a:off x="4727827" y="744536"/>
            <a:ext cx="9356493" cy="822221"/>
          </a:xfrm>
          <a:prstGeom prst="rect">
            <a:avLst/>
          </a:prstGeom>
        </p:spPr>
        <p:txBody>
          <a:bodyPr anchor="t" rtlCol="false" tIns="0" lIns="0" bIns="0" rIns="0">
            <a:spAutoFit/>
          </a:bodyPr>
          <a:lstStyle/>
          <a:p>
            <a:pPr algn="l">
              <a:lnSpc>
                <a:spcPts val="6161"/>
              </a:lnSpc>
            </a:pPr>
            <a:r>
              <a:rPr lang="en-US" sz="6223" b="true">
                <a:solidFill>
                  <a:srgbClr val="172406"/>
                </a:solidFill>
                <a:latin typeface="Montserrat Ultra-Bold"/>
                <a:ea typeface="Montserrat Ultra-Bold"/>
                <a:cs typeface="Montserrat Ultra-Bold"/>
                <a:sym typeface="Montserrat Ultra-Bold"/>
              </a:rPr>
              <a:t>DATASET &amp; LABELING</a:t>
            </a:r>
          </a:p>
        </p:txBody>
      </p:sp>
      <p:sp>
        <p:nvSpPr>
          <p:cNvPr name="TextBox 13" id="13"/>
          <p:cNvSpPr txBox="true"/>
          <p:nvPr/>
        </p:nvSpPr>
        <p:spPr>
          <a:xfrm rot="0">
            <a:off x="2943910" y="8297156"/>
            <a:ext cx="12400180" cy="1396955"/>
          </a:xfrm>
          <a:prstGeom prst="rect">
            <a:avLst/>
          </a:prstGeom>
        </p:spPr>
        <p:txBody>
          <a:bodyPr anchor="t" rtlCol="false" tIns="0" lIns="0" bIns="0" rIns="0">
            <a:spAutoFit/>
          </a:bodyPr>
          <a:lstStyle/>
          <a:p>
            <a:pPr algn="just">
              <a:lnSpc>
                <a:spcPts val="2802"/>
              </a:lnSpc>
            </a:pPr>
            <a:r>
              <a:rPr lang="en-US" sz="2001">
                <a:solidFill>
                  <a:srgbClr val="172406"/>
                </a:solidFill>
                <a:latin typeface="Montserrat"/>
                <a:ea typeface="Montserrat"/>
                <a:cs typeface="Montserrat"/>
                <a:sym typeface="Montserrat"/>
              </a:rPr>
              <a:t>Dataset yang digunakan merupakan dataset sekunder performa konten media sosial yang memuat informasi platform, tagar, dan metrik interaksi seperti views, likes, dan engagement rate, dengan fokus analisis pada platform TikTok. Data dilabeli menjadi dua kelas, yaitu High View (&gt; 5.000.000 views) dan Low View (≤ 5.000.000 views), berdasarkan jumlah jangkauan konten.</a:t>
            </a:r>
          </a:p>
        </p:txBody>
      </p:sp>
      <p:sp>
        <p:nvSpPr>
          <p:cNvPr name="Freeform 14" id="14"/>
          <p:cNvSpPr/>
          <p:nvPr/>
        </p:nvSpPr>
        <p:spPr>
          <a:xfrm flipH="false" flipV="false" rot="0">
            <a:off x="339842" y="272045"/>
            <a:ext cx="2073285" cy="906255"/>
          </a:xfrm>
          <a:custGeom>
            <a:avLst/>
            <a:gdLst/>
            <a:ahLst/>
            <a:cxnLst/>
            <a:rect r="r" b="b" t="t" l="l"/>
            <a:pathLst>
              <a:path h="906255" w="2073285">
                <a:moveTo>
                  <a:pt x="0" y="0"/>
                </a:moveTo>
                <a:lnTo>
                  <a:pt x="2073285" y="0"/>
                </a:lnTo>
                <a:lnTo>
                  <a:pt x="2073285" y="906255"/>
                </a:lnTo>
                <a:lnTo>
                  <a:pt x="0" y="906255"/>
                </a:lnTo>
                <a:lnTo>
                  <a:pt x="0" y="0"/>
                </a:lnTo>
                <a:close/>
              </a:path>
            </a:pathLst>
          </a:custGeom>
          <a:blipFill>
            <a:blip r:embed="rId5"/>
            <a:stretch>
              <a:fillRect l="0" t="0" r="0" b="-10288"/>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78745" y="7140033"/>
            <a:ext cx="3086100" cy="3406255"/>
            <a:chOff x="0" y="0"/>
            <a:chExt cx="812800" cy="897121"/>
          </a:xfrm>
        </p:grpSpPr>
        <p:sp>
          <p:nvSpPr>
            <p:cNvPr name="Freeform 3" id="3"/>
            <p:cNvSpPr/>
            <p:nvPr/>
          </p:nvSpPr>
          <p:spPr>
            <a:xfrm flipH="false" flipV="false" rot="0">
              <a:off x="0" y="0"/>
              <a:ext cx="812800" cy="897121"/>
            </a:xfrm>
            <a:custGeom>
              <a:avLst/>
              <a:gdLst/>
              <a:ahLst/>
              <a:cxnLst/>
              <a:rect r="r" b="b" t="t" l="l"/>
              <a:pathLst>
                <a:path h="897121" w="812800">
                  <a:moveTo>
                    <a:pt x="127941" y="0"/>
                  </a:moveTo>
                  <a:lnTo>
                    <a:pt x="684859" y="0"/>
                  </a:lnTo>
                  <a:cubicBezTo>
                    <a:pt x="718791" y="0"/>
                    <a:pt x="751333" y="13479"/>
                    <a:pt x="775327" y="37473"/>
                  </a:cubicBezTo>
                  <a:cubicBezTo>
                    <a:pt x="799321" y="61467"/>
                    <a:pt x="812800" y="94009"/>
                    <a:pt x="812800" y="127941"/>
                  </a:cubicBezTo>
                  <a:lnTo>
                    <a:pt x="812800" y="769180"/>
                  </a:lnTo>
                  <a:cubicBezTo>
                    <a:pt x="812800" y="803112"/>
                    <a:pt x="799321" y="835654"/>
                    <a:pt x="775327" y="859648"/>
                  </a:cubicBezTo>
                  <a:cubicBezTo>
                    <a:pt x="751333" y="883641"/>
                    <a:pt x="718791" y="897121"/>
                    <a:pt x="684859" y="897121"/>
                  </a:cubicBezTo>
                  <a:lnTo>
                    <a:pt x="127941" y="897121"/>
                  </a:lnTo>
                  <a:cubicBezTo>
                    <a:pt x="94009" y="897121"/>
                    <a:pt x="61467" y="883641"/>
                    <a:pt x="37473" y="859648"/>
                  </a:cubicBezTo>
                  <a:cubicBezTo>
                    <a:pt x="13479" y="835654"/>
                    <a:pt x="0" y="803112"/>
                    <a:pt x="0" y="769180"/>
                  </a:cubicBezTo>
                  <a:lnTo>
                    <a:pt x="0" y="127941"/>
                  </a:lnTo>
                  <a:cubicBezTo>
                    <a:pt x="0" y="94009"/>
                    <a:pt x="13479" y="61467"/>
                    <a:pt x="37473" y="37473"/>
                  </a:cubicBezTo>
                  <a:cubicBezTo>
                    <a:pt x="61467" y="13479"/>
                    <a:pt x="94009" y="0"/>
                    <a:pt x="127941" y="0"/>
                  </a:cubicBezTo>
                  <a:close/>
                </a:path>
              </a:pathLst>
            </a:custGeom>
            <a:solidFill>
              <a:srgbClr val="172406"/>
            </a:solidFill>
          </p:spPr>
        </p:sp>
        <p:sp>
          <p:nvSpPr>
            <p:cNvPr name="TextBox 4" id="4"/>
            <p:cNvSpPr txBox="true"/>
            <p:nvPr/>
          </p:nvSpPr>
          <p:spPr>
            <a:xfrm>
              <a:off x="0" y="-38100"/>
              <a:ext cx="812800" cy="93522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42035" y="9258300"/>
            <a:ext cx="1531460" cy="871623"/>
            <a:chOff x="0" y="0"/>
            <a:chExt cx="403348" cy="229563"/>
          </a:xfrm>
        </p:grpSpPr>
        <p:sp>
          <p:nvSpPr>
            <p:cNvPr name="Freeform 6" id="6"/>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172406"/>
            </a:solidFill>
          </p:spPr>
        </p:sp>
        <p:sp>
          <p:nvSpPr>
            <p:cNvPr name="TextBox 7" id="7"/>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51312" y="889168"/>
            <a:ext cx="2478699" cy="891145"/>
            <a:chOff x="0" y="0"/>
            <a:chExt cx="508152" cy="182692"/>
          </a:xfrm>
        </p:grpSpPr>
        <p:sp>
          <p:nvSpPr>
            <p:cNvPr name="Freeform 9" id="9"/>
            <p:cNvSpPr/>
            <p:nvPr/>
          </p:nvSpPr>
          <p:spPr>
            <a:xfrm flipH="false" flipV="false" rot="0">
              <a:off x="0" y="0"/>
              <a:ext cx="508152" cy="182692"/>
            </a:xfrm>
            <a:custGeom>
              <a:avLst/>
              <a:gdLst/>
              <a:ahLst/>
              <a:cxnLst/>
              <a:rect r="r" b="b" t="t" l="l"/>
              <a:pathLst>
                <a:path h="182692" w="508152">
                  <a:moveTo>
                    <a:pt x="61004" y="0"/>
                  </a:moveTo>
                  <a:lnTo>
                    <a:pt x="447148" y="0"/>
                  </a:lnTo>
                  <a:cubicBezTo>
                    <a:pt x="480840" y="0"/>
                    <a:pt x="508152" y="27312"/>
                    <a:pt x="508152" y="61004"/>
                  </a:cubicBezTo>
                  <a:lnTo>
                    <a:pt x="508152" y="121688"/>
                  </a:lnTo>
                  <a:cubicBezTo>
                    <a:pt x="508152" y="137867"/>
                    <a:pt x="501725" y="153384"/>
                    <a:pt x="490285" y="164824"/>
                  </a:cubicBezTo>
                  <a:cubicBezTo>
                    <a:pt x="478844" y="176264"/>
                    <a:pt x="463328" y="182692"/>
                    <a:pt x="447148" y="182692"/>
                  </a:cubicBezTo>
                  <a:lnTo>
                    <a:pt x="61004" y="182692"/>
                  </a:lnTo>
                  <a:cubicBezTo>
                    <a:pt x="27312" y="182692"/>
                    <a:pt x="0" y="155379"/>
                    <a:pt x="0" y="121688"/>
                  </a:cubicBezTo>
                  <a:lnTo>
                    <a:pt x="0" y="61004"/>
                  </a:lnTo>
                  <a:cubicBezTo>
                    <a:pt x="0" y="27312"/>
                    <a:pt x="27312" y="0"/>
                    <a:pt x="61004" y="0"/>
                  </a:cubicBezTo>
                  <a:close/>
                </a:path>
              </a:pathLst>
            </a:custGeom>
            <a:solidFill>
              <a:srgbClr val="FFFFFF"/>
            </a:solidFill>
          </p:spPr>
        </p:sp>
        <p:sp>
          <p:nvSpPr>
            <p:cNvPr name="TextBox 10" id="10"/>
            <p:cNvSpPr txBox="true"/>
            <p:nvPr/>
          </p:nvSpPr>
          <p:spPr>
            <a:xfrm>
              <a:off x="0" y="-38100"/>
              <a:ext cx="508152" cy="220792"/>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61220" y="9299777"/>
            <a:ext cx="675384" cy="712470"/>
          </a:xfrm>
          <a:prstGeom prst="rect">
            <a:avLst/>
          </a:prstGeom>
        </p:spPr>
        <p:txBody>
          <a:bodyPr anchor="t" rtlCol="false" tIns="0" lIns="0" bIns="0" rIns="0">
            <a:spAutoFit/>
          </a:bodyPr>
          <a:lstStyle/>
          <a:p>
            <a:pPr algn="ctr">
              <a:lnSpc>
                <a:spcPts val="5880"/>
              </a:lnSpc>
            </a:pPr>
            <a:r>
              <a:rPr lang="en-US" b="true" sz="4200">
                <a:solidFill>
                  <a:srgbClr val="FFFFFF"/>
                </a:solidFill>
                <a:latin typeface="Montserrat Bold"/>
                <a:ea typeface="Montserrat Bold"/>
                <a:cs typeface="Montserrat Bold"/>
                <a:sym typeface="Montserrat Bold"/>
              </a:rPr>
              <a:t>7</a:t>
            </a:r>
          </a:p>
        </p:txBody>
      </p:sp>
      <p:sp>
        <p:nvSpPr>
          <p:cNvPr name="Freeform 12" id="12"/>
          <p:cNvSpPr/>
          <p:nvPr/>
        </p:nvSpPr>
        <p:spPr>
          <a:xfrm flipH="false" flipV="false" rot="0">
            <a:off x="16745100" y="0"/>
            <a:ext cx="1450345" cy="1450345"/>
          </a:xfrm>
          <a:custGeom>
            <a:avLst/>
            <a:gdLst/>
            <a:ahLst/>
            <a:cxnLst/>
            <a:rect r="r" b="b" t="t" l="l"/>
            <a:pathLst>
              <a:path h="1450345" w="1450345">
                <a:moveTo>
                  <a:pt x="0" y="0"/>
                </a:moveTo>
                <a:lnTo>
                  <a:pt x="1450345" y="0"/>
                </a:lnTo>
                <a:lnTo>
                  <a:pt x="1450345" y="1450345"/>
                </a:lnTo>
                <a:lnTo>
                  <a:pt x="0" y="1450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651312" y="8243766"/>
            <a:ext cx="1450345" cy="1450345"/>
          </a:xfrm>
          <a:custGeom>
            <a:avLst/>
            <a:gdLst/>
            <a:ahLst/>
            <a:cxnLst/>
            <a:rect r="r" b="b" t="t" l="l"/>
            <a:pathLst>
              <a:path h="1450345" w="1450345">
                <a:moveTo>
                  <a:pt x="0" y="0"/>
                </a:moveTo>
                <a:lnTo>
                  <a:pt x="1450345" y="0"/>
                </a:lnTo>
                <a:lnTo>
                  <a:pt x="1450345" y="1450346"/>
                </a:lnTo>
                <a:lnTo>
                  <a:pt x="0" y="14503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4650889" y="2251060"/>
            <a:ext cx="8986221" cy="5784880"/>
          </a:xfrm>
          <a:custGeom>
            <a:avLst/>
            <a:gdLst/>
            <a:ahLst/>
            <a:cxnLst/>
            <a:rect r="r" b="b" t="t" l="l"/>
            <a:pathLst>
              <a:path h="5784880" w="8986221">
                <a:moveTo>
                  <a:pt x="0" y="0"/>
                </a:moveTo>
                <a:lnTo>
                  <a:pt x="8986222" y="0"/>
                </a:lnTo>
                <a:lnTo>
                  <a:pt x="8986222" y="5784880"/>
                </a:lnTo>
                <a:lnTo>
                  <a:pt x="0" y="5784880"/>
                </a:lnTo>
                <a:lnTo>
                  <a:pt x="0" y="0"/>
                </a:lnTo>
                <a:close/>
              </a:path>
            </a:pathLst>
          </a:custGeom>
          <a:blipFill>
            <a:blip r:embed="rId4"/>
            <a:stretch>
              <a:fillRect l="0" t="0" r="0" b="0"/>
            </a:stretch>
          </a:blipFill>
        </p:spPr>
      </p:sp>
      <p:sp>
        <p:nvSpPr>
          <p:cNvPr name="TextBox 15" id="15"/>
          <p:cNvSpPr txBox="true"/>
          <p:nvPr/>
        </p:nvSpPr>
        <p:spPr>
          <a:xfrm rot="0">
            <a:off x="2101657" y="577171"/>
            <a:ext cx="14007180" cy="1285875"/>
          </a:xfrm>
          <a:prstGeom prst="rect">
            <a:avLst/>
          </a:prstGeom>
        </p:spPr>
        <p:txBody>
          <a:bodyPr anchor="t" rtlCol="false" tIns="0" lIns="0" bIns="0" rIns="0">
            <a:spAutoFit/>
          </a:bodyPr>
          <a:lstStyle/>
          <a:p>
            <a:pPr algn="l">
              <a:lnSpc>
                <a:spcPts val="4950"/>
              </a:lnSpc>
            </a:pPr>
            <a:r>
              <a:rPr lang="en-US" sz="5000" b="true">
                <a:solidFill>
                  <a:srgbClr val="172406"/>
                </a:solidFill>
                <a:latin typeface="Montserrat Ultra-Bold"/>
                <a:ea typeface="Montserrat Ultra-Bold"/>
                <a:cs typeface="Montserrat Ultra-Bold"/>
                <a:sym typeface="Montserrat Ultra-Bold"/>
              </a:rPr>
              <a:t>HASIL ANALISIS JANGKAUAN PLATFORM DAN PERFORMA MODEL DEEP LEARNING</a:t>
            </a:r>
          </a:p>
        </p:txBody>
      </p:sp>
      <p:sp>
        <p:nvSpPr>
          <p:cNvPr name="TextBox 16" id="16"/>
          <p:cNvSpPr txBox="true"/>
          <p:nvPr/>
        </p:nvSpPr>
        <p:spPr>
          <a:xfrm rot="0">
            <a:off x="2774737" y="8274065"/>
            <a:ext cx="12738526" cy="1396955"/>
          </a:xfrm>
          <a:prstGeom prst="rect">
            <a:avLst/>
          </a:prstGeom>
        </p:spPr>
        <p:txBody>
          <a:bodyPr anchor="t" rtlCol="false" tIns="0" lIns="0" bIns="0" rIns="0">
            <a:spAutoFit/>
          </a:bodyPr>
          <a:lstStyle/>
          <a:p>
            <a:pPr algn="just">
              <a:lnSpc>
                <a:spcPts val="2802"/>
              </a:lnSpc>
            </a:pPr>
            <a:r>
              <a:rPr lang="en-US" sz="2001">
                <a:solidFill>
                  <a:srgbClr val="172406"/>
                </a:solidFill>
                <a:latin typeface="Montserrat"/>
                <a:ea typeface="Montserrat"/>
                <a:cs typeface="Montserrat"/>
                <a:sym typeface="Montserrat"/>
              </a:rPr>
              <a:t>A</a:t>
            </a:r>
            <a:r>
              <a:rPr lang="en-US" sz="2001">
                <a:solidFill>
                  <a:srgbClr val="172406"/>
                </a:solidFill>
                <a:latin typeface="Montserrat"/>
                <a:ea typeface="Montserrat"/>
                <a:cs typeface="Montserrat"/>
                <a:sym typeface="Montserrat"/>
              </a:rPr>
              <a:t>nalisis menunjukkan platform TikTok paling strategis untuk jangkauan luas, didukung model Deep Learning yang mencapai akurasi stabil 72% dan mengungguli metode klasik. Pemetaan semantik mengidentifikasi tagar #ai, #tech, dan #trending sebagai kunci utama dengan skor pengaruh tertinggi untuk memicu viralitas konten di atas 5 juta penayangan.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78745" y="7140033"/>
            <a:ext cx="3086100" cy="3406255"/>
            <a:chOff x="0" y="0"/>
            <a:chExt cx="812800" cy="897121"/>
          </a:xfrm>
        </p:grpSpPr>
        <p:sp>
          <p:nvSpPr>
            <p:cNvPr name="Freeform 3" id="3"/>
            <p:cNvSpPr/>
            <p:nvPr/>
          </p:nvSpPr>
          <p:spPr>
            <a:xfrm flipH="false" flipV="false" rot="0">
              <a:off x="0" y="0"/>
              <a:ext cx="812800" cy="897121"/>
            </a:xfrm>
            <a:custGeom>
              <a:avLst/>
              <a:gdLst/>
              <a:ahLst/>
              <a:cxnLst/>
              <a:rect r="r" b="b" t="t" l="l"/>
              <a:pathLst>
                <a:path h="897121" w="812800">
                  <a:moveTo>
                    <a:pt x="127941" y="0"/>
                  </a:moveTo>
                  <a:lnTo>
                    <a:pt x="684859" y="0"/>
                  </a:lnTo>
                  <a:cubicBezTo>
                    <a:pt x="718791" y="0"/>
                    <a:pt x="751333" y="13479"/>
                    <a:pt x="775327" y="37473"/>
                  </a:cubicBezTo>
                  <a:cubicBezTo>
                    <a:pt x="799321" y="61467"/>
                    <a:pt x="812800" y="94009"/>
                    <a:pt x="812800" y="127941"/>
                  </a:cubicBezTo>
                  <a:lnTo>
                    <a:pt x="812800" y="769180"/>
                  </a:lnTo>
                  <a:cubicBezTo>
                    <a:pt x="812800" y="803112"/>
                    <a:pt x="799321" y="835654"/>
                    <a:pt x="775327" y="859648"/>
                  </a:cubicBezTo>
                  <a:cubicBezTo>
                    <a:pt x="751333" y="883641"/>
                    <a:pt x="718791" y="897121"/>
                    <a:pt x="684859" y="897121"/>
                  </a:cubicBezTo>
                  <a:lnTo>
                    <a:pt x="127941" y="897121"/>
                  </a:lnTo>
                  <a:cubicBezTo>
                    <a:pt x="94009" y="897121"/>
                    <a:pt x="61467" y="883641"/>
                    <a:pt x="37473" y="859648"/>
                  </a:cubicBezTo>
                  <a:cubicBezTo>
                    <a:pt x="13479" y="835654"/>
                    <a:pt x="0" y="803112"/>
                    <a:pt x="0" y="769180"/>
                  </a:cubicBezTo>
                  <a:lnTo>
                    <a:pt x="0" y="127941"/>
                  </a:lnTo>
                  <a:cubicBezTo>
                    <a:pt x="0" y="94009"/>
                    <a:pt x="13479" y="61467"/>
                    <a:pt x="37473" y="37473"/>
                  </a:cubicBezTo>
                  <a:cubicBezTo>
                    <a:pt x="61467" y="13479"/>
                    <a:pt x="94009" y="0"/>
                    <a:pt x="127941" y="0"/>
                  </a:cubicBezTo>
                  <a:close/>
                </a:path>
              </a:pathLst>
            </a:custGeom>
            <a:solidFill>
              <a:srgbClr val="172406"/>
            </a:solidFill>
          </p:spPr>
        </p:sp>
        <p:sp>
          <p:nvSpPr>
            <p:cNvPr name="TextBox 4" id="4"/>
            <p:cNvSpPr txBox="true"/>
            <p:nvPr/>
          </p:nvSpPr>
          <p:spPr>
            <a:xfrm>
              <a:off x="0" y="-38100"/>
              <a:ext cx="812800" cy="93522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42035" y="9258300"/>
            <a:ext cx="1531460" cy="871623"/>
            <a:chOff x="0" y="0"/>
            <a:chExt cx="403348" cy="229563"/>
          </a:xfrm>
        </p:grpSpPr>
        <p:sp>
          <p:nvSpPr>
            <p:cNvPr name="Freeform 6" id="6"/>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172406"/>
            </a:solidFill>
          </p:spPr>
        </p:sp>
        <p:sp>
          <p:nvSpPr>
            <p:cNvPr name="TextBox 7" id="7"/>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1220" y="9299777"/>
            <a:ext cx="675384" cy="712470"/>
          </a:xfrm>
          <a:prstGeom prst="rect">
            <a:avLst/>
          </a:prstGeom>
        </p:spPr>
        <p:txBody>
          <a:bodyPr anchor="t" rtlCol="false" tIns="0" lIns="0" bIns="0" rIns="0">
            <a:spAutoFit/>
          </a:bodyPr>
          <a:lstStyle/>
          <a:p>
            <a:pPr algn="ctr">
              <a:lnSpc>
                <a:spcPts val="5880"/>
              </a:lnSpc>
            </a:pPr>
            <a:r>
              <a:rPr lang="en-US" b="true" sz="4200">
                <a:solidFill>
                  <a:srgbClr val="FFFFFF"/>
                </a:solidFill>
                <a:latin typeface="Montserrat Bold"/>
                <a:ea typeface="Montserrat Bold"/>
                <a:cs typeface="Montserrat Bold"/>
                <a:sym typeface="Montserrat Bold"/>
              </a:rPr>
              <a:t>8</a:t>
            </a:r>
          </a:p>
        </p:txBody>
      </p:sp>
      <p:sp>
        <p:nvSpPr>
          <p:cNvPr name="Freeform 9" id="9"/>
          <p:cNvSpPr/>
          <p:nvPr/>
        </p:nvSpPr>
        <p:spPr>
          <a:xfrm flipH="false" flipV="false" rot="0">
            <a:off x="16745100" y="0"/>
            <a:ext cx="1450345" cy="1450345"/>
          </a:xfrm>
          <a:custGeom>
            <a:avLst/>
            <a:gdLst/>
            <a:ahLst/>
            <a:cxnLst/>
            <a:rect r="r" b="b" t="t" l="l"/>
            <a:pathLst>
              <a:path h="1450345" w="1450345">
                <a:moveTo>
                  <a:pt x="0" y="0"/>
                </a:moveTo>
                <a:lnTo>
                  <a:pt x="1450345" y="0"/>
                </a:lnTo>
                <a:lnTo>
                  <a:pt x="1450345" y="1450345"/>
                </a:lnTo>
                <a:lnTo>
                  <a:pt x="0" y="1450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651312" y="8243766"/>
            <a:ext cx="1450345" cy="1450345"/>
          </a:xfrm>
          <a:custGeom>
            <a:avLst/>
            <a:gdLst/>
            <a:ahLst/>
            <a:cxnLst/>
            <a:rect r="r" b="b" t="t" l="l"/>
            <a:pathLst>
              <a:path h="1450345" w="1450345">
                <a:moveTo>
                  <a:pt x="0" y="0"/>
                </a:moveTo>
                <a:lnTo>
                  <a:pt x="1450345" y="0"/>
                </a:lnTo>
                <a:lnTo>
                  <a:pt x="1450345" y="1450346"/>
                </a:lnTo>
                <a:lnTo>
                  <a:pt x="0" y="14503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2864442" y="1780313"/>
            <a:ext cx="12559115" cy="6012676"/>
          </a:xfrm>
          <a:custGeom>
            <a:avLst/>
            <a:gdLst/>
            <a:ahLst/>
            <a:cxnLst/>
            <a:rect r="r" b="b" t="t" l="l"/>
            <a:pathLst>
              <a:path h="6012676" w="12559115">
                <a:moveTo>
                  <a:pt x="0" y="0"/>
                </a:moveTo>
                <a:lnTo>
                  <a:pt x="12559116" y="0"/>
                </a:lnTo>
                <a:lnTo>
                  <a:pt x="12559116" y="6012677"/>
                </a:lnTo>
                <a:lnTo>
                  <a:pt x="0" y="6012677"/>
                </a:lnTo>
                <a:lnTo>
                  <a:pt x="0" y="0"/>
                </a:lnTo>
                <a:close/>
              </a:path>
            </a:pathLst>
          </a:custGeom>
          <a:blipFill>
            <a:blip r:embed="rId4"/>
            <a:stretch>
              <a:fillRect l="0" t="0" r="0" b="0"/>
            </a:stretch>
          </a:blipFill>
        </p:spPr>
      </p:sp>
      <p:sp>
        <p:nvSpPr>
          <p:cNvPr name="TextBox 12" id="12"/>
          <p:cNvSpPr txBox="true"/>
          <p:nvPr/>
        </p:nvSpPr>
        <p:spPr>
          <a:xfrm rot="0">
            <a:off x="4727827" y="744536"/>
            <a:ext cx="8690004" cy="823210"/>
          </a:xfrm>
          <a:prstGeom prst="rect">
            <a:avLst/>
          </a:prstGeom>
        </p:spPr>
        <p:txBody>
          <a:bodyPr anchor="t" rtlCol="false" tIns="0" lIns="0" bIns="0" rIns="0">
            <a:spAutoFit/>
          </a:bodyPr>
          <a:lstStyle/>
          <a:p>
            <a:pPr algn="ctr">
              <a:lnSpc>
                <a:spcPts val="6161"/>
              </a:lnSpc>
            </a:pPr>
            <a:r>
              <a:rPr lang="en-US" sz="6223" b="true">
                <a:solidFill>
                  <a:srgbClr val="172406"/>
                </a:solidFill>
                <a:latin typeface="Montserrat Ultra-Bold"/>
                <a:ea typeface="Montserrat Ultra-Bold"/>
                <a:cs typeface="Montserrat Ultra-Bold"/>
                <a:sym typeface="Montserrat Ultra-Bold"/>
              </a:rPr>
              <a:t>PREPROCESSING</a:t>
            </a:r>
          </a:p>
        </p:txBody>
      </p:sp>
      <p:sp>
        <p:nvSpPr>
          <p:cNvPr name="TextBox 13" id="13"/>
          <p:cNvSpPr txBox="true"/>
          <p:nvPr/>
        </p:nvSpPr>
        <p:spPr>
          <a:xfrm rot="0">
            <a:off x="2998452" y="8600927"/>
            <a:ext cx="12291096" cy="697923"/>
          </a:xfrm>
          <a:prstGeom prst="rect">
            <a:avLst/>
          </a:prstGeom>
        </p:spPr>
        <p:txBody>
          <a:bodyPr anchor="t" rtlCol="false" tIns="0" lIns="0" bIns="0" rIns="0">
            <a:spAutoFit/>
          </a:bodyPr>
          <a:lstStyle/>
          <a:p>
            <a:pPr algn="l">
              <a:lnSpc>
                <a:spcPts val="2802"/>
              </a:lnSpc>
            </a:pPr>
            <a:r>
              <a:rPr lang="en-US" sz="2001">
                <a:solidFill>
                  <a:srgbClr val="172406"/>
                </a:solidFill>
                <a:latin typeface="Montserrat"/>
                <a:ea typeface="Montserrat"/>
                <a:cs typeface="Montserrat"/>
                <a:sym typeface="Montserrat"/>
              </a:rPr>
              <a:t>Tahap preprocessing meliputi pelabelan jangkauan konten berdasarkan jumlah views, seleksi data TikTok, serta tokenisasi dan padding tagar agar dapat diproses oleh model Deep Learning.</a:t>
            </a:r>
          </a:p>
        </p:txBody>
      </p:sp>
      <p:sp>
        <p:nvSpPr>
          <p:cNvPr name="Freeform 14" id="14"/>
          <p:cNvSpPr/>
          <p:nvPr/>
        </p:nvSpPr>
        <p:spPr>
          <a:xfrm flipH="false" flipV="false" rot="0">
            <a:off x="339842" y="272045"/>
            <a:ext cx="2073285" cy="906255"/>
          </a:xfrm>
          <a:custGeom>
            <a:avLst/>
            <a:gdLst/>
            <a:ahLst/>
            <a:cxnLst/>
            <a:rect r="r" b="b" t="t" l="l"/>
            <a:pathLst>
              <a:path h="906255" w="2073285">
                <a:moveTo>
                  <a:pt x="0" y="0"/>
                </a:moveTo>
                <a:lnTo>
                  <a:pt x="2073285" y="0"/>
                </a:lnTo>
                <a:lnTo>
                  <a:pt x="2073285" y="906255"/>
                </a:lnTo>
                <a:lnTo>
                  <a:pt x="0" y="906255"/>
                </a:lnTo>
                <a:lnTo>
                  <a:pt x="0" y="0"/>
                </a:lnTo>
                <a:close/>
              </a:path>
            </a:pathLst>
          </a:custGeom>
          <a:blipFill>
            <a:blip r:embed="rId5"/>
            <a:stretch>
              <a:fillRect l="0" t="0" r="0" b="-10288"/>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78745" y="7140033"/>
            <a:ext cx="3086100" cy="3406255"/>
            <a:chOff x="0" y="0"/>
            <a:chExt cx="812800" cy="897121"/>
          </a:xfrm>
        </p:grpSpPr>
        <p:sp>
          <p:nvSpPr>
            <p:cNvPr name="Freeform 3" id="3"/>
            <p:cNvSpPr/>
            <p:nvPr/>
          </p:nvSpPr>
          <p:spPr>
            <a:xfrm flipH="false" flipV="false" rot="0">
              <a:off x="0" y="0"/>
              <a:ext cx="812800" cy="897121"/>
            </a:xfrm>
            <a:custGeom>
              <a:avLst/>
              <a:gdLst/>
              <a:ahLst/>
              <a:cxnLst/>
              <a:rect r="r" b="b" t="t" l="l"/>
              <a:pathLst>
                <a:path h="897121" w="812800">
                  <a:moveTo>
                    <a:pt x="127941" y="0"/>
                  </a:moveTo>
                  <a:lnTo>
                    <a:pt x="684859" y="0"/>
                  </a:lnTo>
                  <a:cubicBezTo>
                    <a:pt x="718791" y="0"/>
                    <a:pt x="751333" y="13479"/>
                    <a:pt x="775327" y="37473"/>
                  </a:cubicBezTo>
                  <a:cubicBezTo>
                    <a:pt x="799321" y="61467"/>
                    <a:pt x="812800" y="94009"/>
                    <a:pt x="812800" y="127941"/>
                  </a:cubicBezTo>
                  <a:lnTo>
                    <a:pt x="812800" y="769180"/>
                  </a:lnTo>
                  <a:cubicBezTo>
                    <a:pt x="812800" y="803112"/>
                    <a:pt x="799321" y="835654"/>
                    <a:pt x="775327" y="859648"/>
                  </a:cubicBezTo>
                  <a:cubicBezTo>
                    <a:pt x="751333" y="883641"/>
                    <a:pt x="718791" y="897121"/>
                    <a:pt x="684859" y="897121"/>
                  </a:cubicBezTo>
                  <a:lnTo>
                    <a:pt x="127941" y="897121"/>
                  </a:lnTo>
                  <a:cubicBezTo>
                    <a:pt x="94009" y="897121"/>
                    <a:pt x="61467" y="883641"/>
                    <a:pt x="37473" y="859648"/>
                  </a:cubicBezTo>
                  <a:cubicBezTo>
                    <a:pt x="13479" y="835654"/>
                    <a:pt x="0" y="803112"/>
                    <a:pt x="0" y="769180"/>
                  </a:cubicBezTo>
                  <a:lnTo>
                    <a:pt x="0" y="127941"/>
                  </a:lnTo>
                  <a:cubicBezTo>
                    <a:pt x="0" y="94009"/>
                    <a:pt x="13479" y="61467"/>
                    <a:pt x="37473" y="37473"/>
                  </a:cubicBezTo>
                  <a:cubicBezTo>
                    <a:pt x="61467" y="13479"/>
                    <a:pt x="94009" y="0"/>
                    <a:pt x="127941" y="0"/>
                  </a:cubicBezTo>
                  <a:close/>
                </a:path>
              </a:pathLst>
            </a:custGeom>
            <a:solidFill>
              <a:srgbClr val="172406"/>
            </a:solidFill>
          </p:spPr>
        </p:sp>
        <p:sp>
          <p:nvSpPr>
            <p:cNvPr name="TextBox 4" id="4"/>
            <p:cNvSpPr txBox="true"/>
            <p:nvPr/>
          </p:nvSpPr>
          <p:spPr>
            <a:xfrm>
              <a:off x="0" y="-38100"/>
              <a:ext cx="812800" cy="93522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42035" y="9258300"/>
            <a:ext cx="1531460" cy="871623"/>
            <a:chOff x="0" y="0"/>
            <a:chExt cx="403348" cy="229563"/>
          </a:xfrm>
        </p:grpSpPr>
        <p:sp>
          <p:nvSpPr>
            <p:cNvPr name="Freeform 6" id="6"/>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172406"/>
            </a:solidFill>
          </p:spPr>
        </p:sp>
        <p:sp>
          <p:nvSpPr>
            <p:cNvPr name="TextBox 7" id="7"/>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1220" y="9299777"/>
            <a:ext cx="675384" cy="712470"/>
          </a:xfrm>
          <a:prstGeom prst="rect">
            <a:avLst/>
          </a:prstGeom>
        </p:spPr>
        <p:txBody>
          <a:bodyPr anchor="t" rtlCol="false" tIns="0" lIns="0" bIns="0" rIns="0">
            <a:spAutoFit/>
          </a:bodyPr>
          <a:lstStyle/>
          <a:p>
            <a:pPr algn="ctr">
              <a:lnSpc>
                <a:spcPts val="5880"/>
              </a:lnSpc>
            </a:pPr>
            <a:r>
              <a:rPr lang="en-US" b="true" sz="4200">
                <a:solidFill>
                  <a:srgbClr val="FFFFFF"/>
                </a:solidFill>
                <a:latin typeface="Montserrat Bold"/>
                <a:ea typeface="Montserrat Bold"/>
                <a:cs typeface="Montserrat Bold"/>
                <a:sym typeface="Montserrat Bold"/>
              </a:rPr>
              <a:t>9</a:t>
            </a:r>
          </a:p>
        </p:txBody>
      </p:sp>
      <p:sp>
        <p:nvSpPr>
          <p:cNvPr name="Freeform 9" id="9"/>
          <p:cNvSpPr/>
          <p:nvPr/>
        </p:nvSpPr>
        <p:spPr>
          <a:xfrm flipH="false" flipV="false" rot="0">
            <a:off x="16745100" y="0"/>
            <a:ext cx="1450345" cy="1450345"/>
          </a:xfrm>
          <a:custGeom>
            <a:avLst/>
            <a:gdLst/>
            <a:ahLst/>
            <a:cxnLst/>
            <a:rect r="r" b="b" t="t" l="l"/>
            <a:pathLst>
              <a:path h="1450345" w="1450345">
                <a:moveTo>
                  <a:pt x="0" y="0"/>
                </a:moveTo>
                <a:lnTo>
                  <a:pt x="1450345" y="0"/>
                </a:lnTo>
                <a:lnTo>
                  <a:pt x="1450345" y="1450345"/>
                </a:lnTo>
                <a:lnTo>
                  <a:pt x="0" y="1450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651312" y="8243766"/>
            <a:ext cx="1450345" cy="1450345"/>
          </a:xfrm>
          <a:custGeom>
            <a:avLst/>
            <a:gdLst/>
            <a:ahLst/>
            <a:cxnLst/>
            <a:rect r="r" b="b" t="t" l="l"/>
            <a:pathLst>
              <a:path h="1450345" w="1450345">
                <a:moveTo>
                  <a:pt x="0" y="0"/>
                </a:moveTo>
                <a:lnTo>
                  <a:pt x="1450345" y="0"/>
                </a:lnTo>
                <a:lnTo>
                  <a:pt x="1450345" y="1450346"/>
                </a:lnTo>
                <a:lnTo>
                  <a:pt x="0" y="14503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2794415" y="2604276"/>
            <a:ext cx="12699169" cy="4310563"/>
          </a:xfrm>
          <a:custGeom>
            <a:avLst/>
            <a:gdLst/>
            <a:ahLst/>
            <a:cxnLst/>
            <a:rect r="r" b="b" t="t" l="l"/>
            <a:pathLst>
              <a:path h="4310563" w="12699169">
                <a:moveTo>
                  <a:pt x="0" y="0"/>
                </a:moveTo>
                <a:lnTo>
                  <a:pt x="12699170" y="0"/>
                </a:lnTo>
                <a:lnTo>
                  <a:pt x="12699170" y="4310563"/>
                </a:lnTo>
                <a:lnTo>
                  <a:pt x="0" y="4310563"/>
                </a:lnTo>
                <a:lnTo>
                  <a:pt x="0" y="0"/>
                </a:lnTo>
                <a:close/>
              </a:path>
            </a:pathLst>
          </a:custGeom>
          <a:blipFill>
            <a:blip r:embed="rId4"/>
            <a:stretch>
              <a:fillRect l="0" t="0" r="0" b="0"/>
            </a:stretch>
          </a:blipFill>
        </p:spPr>
      </p:sp>
      <p:sp>
        <p:nvSpPr>
          <p:cNvPr name="TextBox 12" id="12"/>
          <p:cNvSpPr txBox="true"/>
          <p:nvPr/>
        </p:nvSpPr>
        <p:spPr>
          <a:xfrm rot="0">
            <a:off x="3473018" y="798978"/>
            <a:ext cx="11341964" cy="657225"/>
          </a:xfrm>
          <a:prstGeom prst="rect">
            <a:avLst/>
          </a:prstGeom>
        </p:spPr>
        <p:txBody>
          <a:bodyPr anchor="t" rtlCol="false" tIns="0" lIns="0" bIns="0" rIns="0">
            <a:spAutoFit/>
          </a:bodyPr>
          <a:lstStyle/>
          <a:p>
            <a:pPr algn="ctr">
              <a:lnSpc>
                <a:spcPts val="4950"/>
              </a:lnSpc>
            </a:pPr>
            <a:r>
              <a:rPr lang="en-US" b="true" sz="5000">
                <a:solidFill>
                  <a:srgbClr val="172406"/>
                </a:solidFill>
                <a:latin typeface="Montserrat Bold"/>
                <a:ea typeface="Montserrat Bold"/>
                <a:cs typeface="Montserrat Bold"/>
                <a:sym typeface="Montserrat Bold"/>
              </a:rPr>
              <a:t>EVALUASI MODEL BASELINE</a:t>
            </a:r>
          </a:p>
        </p:txBody>
      </p:sp>
      <p:sp>
        <p:nvSpPr>
          <p:cNvPr name="TextBox 13" id="13"/>
          <p:cNvSpPr txBox="true"/>
          <p:nvPr/>
        </p:nvSpPr>
        <p:spPr>
          <a:xfrm rot="0">
            <a:off x="2774737" y="7705414"/>
            <a:ext cx="12738526" cy="1749380"/>
          </a:xfrm>
          <a:prstGeom prst="rect">
            <a:avLst/>
          </a:prstGeom>
        </p:spPr>
        <p:txBody>
          <a:bodyPr anchor="t" rtlCol="false" tIns="0" lIns="0" bIns="0" rIns="0">
            <a:spAutoFit/>
          </a:bodyPr>
          <a:lstStyle/>
          <a:p>
            <a:pPr algn="just">
              <a:lnSpc>
                <a:spcPts val="2802"/>
              </a:lnSpc>
            </a:pPr>
            <a:r>
              <a:rPr lang="en-US" sz="2001">
                <a:solidFill>
                  <a:srgbClr val="172406"/>
                </a:solidFill>
                <a:latin typeface="Montserrat"/>
                <a:ea typeface="Montserrat"/>
                <a:cs typeface="Montserrat"/>
                <a:sym typeface="Montserrat"/>
              </a:rPr>
              <a:t>Menampilkan implementasi Random Forest sebagai model baseline klasik untuk memvalidasi efektivitas arsitektur Deep Learning kami. Melalui laporan classification_report, kita dapat membandingkan akurasi dan F1-score secara objektif, membuktikan bahwa pendekatan saraf tiruan jauh lebih unggul dalam mengenali pola viralitas yang kompleks dibandingkan metode konvensional.</a:t>
            </a:r>
          </a:p>
        </p:txBody>
      </p:sp>
      <p:sp>
        <p:nvSpPr>
          <p:cNvPr name="Freeform 14" id="14"/>
          <p:cNvSpPr/>
          <p:nvPr/>
        </p:nvSpPr>
        <p:spPr>
          <a:xfrm flipH="false" flipV="false" rot="0">
            <a:off x="339842" y="272045"/>
            <a:ext cx="2073285" cy="906255"/>
          </a:xfrm>
          <a:custGeom>
            <a:avLst/>
            <a:gdLst/>
            <a:ahLst/>
            <a:cxnLst/>
            <a:rect r="r" b="b" t="t" l="l"/>
            <a:pathLst>
              <a:path h="906255" w="2073285">
                <a:moveTo>
                  <a:pt x="0" y="0"/>
                </a:moveTo>
                <a:lnTo>
                  <a:pt x="2073285" y="0"/>
                </a:lnTo>
                <a:lnTo>
                  <a:pt x="2073285" y="906255"/>
                </a:lnTo>
                <a:lnTo>
                  <a:pt x="0" y="906255"/>
                </a:lnTo>
                <a:lnTo>
                  <a:pt x="0" y="0"/>
                </a:lnTo>
                <a:close/>
              </a:path>
            </a:pathLst>
          </a:custGeom>
          <a:blipFill>
            <a:blip r:embed="rId5"/>
            <a:stretch>
              <a:fillRect l="0" t="0" r="0" b="-10288"/>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78745" y="7140033"/>
            <a:ext cx="3086100" cy="3406255"/>
            <a:chOff x="0" y="0"/>
            <a:chExt cx="812800" cy="897121"/>
          </a:xfrm>
        </p:grpSpPr>
        <p:sp>
          <p:nvSpPr>
            <p:cNvPr name="Freeform 3" id="3"/>
            <p:cNvSpPr/>
            <p:nvPr/>
          </p:nvSpPr>
          <p:spPr>
            <a:xfrm flipH="false" flipV="false" rot="0">
              <a:off x="0" y="0"/>
              <a:ext cx="812800" cy="897121"/>
            </a:xfrm>
            <a:custGeom>
              <a:avLst/>
              <a:gdLst/>
              <a:ahLst/>
              <a:cxnLst/>
              <a:rect r="r" b="b" t="t" l="l"/>
              <a:pathLst>
                <a:path h="897121" w="812800">
                  <a:moveTo>
                    <a:pt x="127941" y="0"/>
                  </a:moveTo>
                  <a:lnTo>
                    <a:pt x="684859" y="0"/>
                  </a:lnTo>
                  <a:cubicBezTo>
                    <a:pt x="718791" y="0"/>
                    <a:pt x="751333" y="13479"/>
                    <a:pt x="775327" y="37473"/>
                  </a:cubicBezTo>
                  <a:cubicBezTo>
                    <a:pt x="799321" y="61467"/>
                    <a:pt x="812800" y="94009"/>
                    <a:pt x="812800" y="127941"/>
                  </a:cubicBezTo>
                  <a:lnTo>
                    <a:pt x="812800" y="769180"/>
                  </a:lnTo>
                  <a:cubicBezTo>
                    <a:pt x="812800" y="803112"/>
                    <a:pt x="799321" y="835654"/>
                    <a:pt x="775327" y="859648"/>
                  </a:cubicBezTo>
                  <a:cubicBezTo>
                    <a:pt x="751333" y="883641"/>
                    <a:pt x="718791" y="897121"/>
                    <a:pt x="684859" y="897121"/>
                  </a:cubicBezTo>
                  <a:lnTo>
                    <a:pt x="127941" y="897121"/>
                  </a:lnTo>
                  <a:cubicBezTo>
                    <a:pt x="94009" y="897121"/>
                    <a:pt x="61467" y="883641"/>
                    <a:pt x="37473" y="859648"/>
                  </a:cubicBezTo>
                  <a:cubicBezTo>
                    <a:pt x="13479" y="835654"/>
                    <a:pt x="0" y="803112"/>
                    <a:pt x="0" y="769180"/>
                  </a:cubicBezTo>
                  <a:lnTo>
                    <a:pt x="0" y="127941"/>
                  </a:lnTo>
                  <a:cubicBezTo>
                    <a:pt x="0" y="94009"/>
                    <a:pt x="13479" y="61467"/>
                    <a:pt x="37473" y="37473"/>
                  </a:cubicBezTo>
                  <a:cubicBezTo>
                    <a:pt x="61467" y="13479"/>
                    <a:pt x="94009" y="0"/>
                    <a:pt x="127941" y="0"/>
                  </a:cubicBezTo>
                  <a:close/>
                </a:path>
              </a:pathLst>
            </a:custGeom>
            <a:solidFill>
              <a:srgbClr val="172406"/>
            </a:solidFill>
          </p:spPr>
        </p:sp>
        <p:sp>
          <p:nvSpPr>
            <p:cNvPr name="TextBox 4" id="4"/>
            <p:cNvSpPr txBox="true"/>
            <p:nvPr/>
          </p:nvSpPr>
          <p:spPr>
            <a:xfrm>
              <a:off x="0" y="-38100"/>
              <a:ext cx="812800" cy="93522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42035" y="9258300"/>
            <a:ext cx="1531460" cy="871623"/>
            <a:chOff x="0" y="0"/>
            <a:chExt cx="403348" cy="229563"/>
          </a:xfrm>
        </p:grpSpPr>
        <p:sp>
          <p:nvSpPr>
            <p:cNvPr name="Freeform 6" id="6"/>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172406"/>
            </a:solidFill>
          </p:spPr>
        </p:sp>
        <p:sp>
          <p:nvSpPr>
            <p:cNvPr name="TextBox 7" id="7"/>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1220" y="9299777"/>
            <a:ext cx="675384" cy="712470"/>
          </a:xfrm>
          <a:prstGeom prst="rect">
            <a:avLst/>
          </a:prstGeom>
        </p:spPr>
        <p:txBody>
          <a:bodyPr anchor="t" rtlCol="false" tIns="0" lIns="0" bIns="0" rIns="0">
            <a:spAutoFit/>
          </a:bodyPr>
          <a:lstStyle/>
          <a:p>
            <a:pPr algn="ctr">
              <a:lnSpc>
                <a:spcPts val="5880"/>
              </a:lnSpc>
            </a:pPr>
            <a:r>
              <a:rPr lang="en-US" b="true" sz="4200">
                <a:solidFill>
                  <a:srgbClr val="FFFFFF"/>
                </a:solidFill>
                <a:latin typeface="Montserrat Bold"/>
                <a:ea typeface="Montserrat Bold"/>
                <a:cs typeface="Montserrat Bold"/>
                <a:sym typeface="Montserrat Bold"/>
              </a:rPr>
              <a:t>10</a:t>
            </a:r>
          </a:p>
        </p:txBody>
      </p:sp>
      <p:sp>
        <p:nvSpPr>
          <p:cNvPr name="Freeform 9" id="9"/>
          <p:cNvSpPr/>
          <p:nvPr/>
        </p:nvSpPr>
        <p:spPr>
          <a:xfrm flipH="false" flipV="false" rot="0">
            <a:off x="16745100" y="0"/>
            <a:ext cx="1450345" cy="1450345"/>
          </a:xfrm>
          <a:custGeom>
            <a:avLst/>
            <a:gdLst/>
            <a:ahLst/>
            <a:cxnLst/>
            <a:rect r="r" b="b" t="t" l="l"/>
            <a:pathLst>
              <a:path h="1450345" w="1450345">
                <a:moveTo>
                  <a:pt x="0" y="0"/>
                </a:moveTo>
                <a:lnTo>
                  <a:pt x="1450345" y="0"/>
                </a:lnTo>
                <a:lnTo>
                  <a:pt x="1450345" y="1450345"/>
                </a:lnTo>
                <a:lnTo>
                  <a:pt x="0" y="1450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651312" y="8243766"/>
            <a:ext cx="1450345" cy="1450345"/>
          </a:xfrm>
          <a:custGeom>
            <a:avLst/>
            <a:gdLst/>
            <a:ahLst/>
            <a:cxnLst/>
            <a:rect r="r" b="b" t="t" l="l"/>
            <a:pathLst>
              <a:path h="1450345" w="1450345">
                <a:moveTo>
                  <a:pt x="0" y="0"/>
                </a:moveTo>
                <a:lnTo>
                  <a:pt x="1450345" y="0"/>
                </a:lnTo>
                <a:lnTo>
                  <a:pt x="1450345" y="1450346"/>
                </a:lnTo>
                <a:lnTo>
                  <a:pt x="0" y="14503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4843272" y="679502"/>
            <a:ext cx="8601455" cy="822221"/>
          </a:xfrm>
          <a:prstGeom prst="rect">
            <a:avLst/>
          </a:prstGeom>
        </p:spPr>
        <p:txBody>
          <a:bodyPr anchor="t" rtlCol="false" tIns="0" lIns="0" bIns="0" rIns="0">
            <a:spAutoFit/>
          </a:bodyPr>
          <a:lstStyle/>
          <a:p>
            <a:pPr algn="l">
              <a:lnSpc>
                <a:spcPts val="6161"/>
              </a:lnSpc>
            </a:pPr>
            <a:r>
              <a:rPr lang="en-US" sz="6223" b="true">
                <a:solidFill>
                  <a:srgbClr val="172406"/>
                </a:solidFill>
                <a:latin typeface="Montserrat Ultra-Bold"/>
                <a:ea typeface="Montserrat Ultra-Bold"/>
                <a:cs typeface="Montserrat Ultra-Bold"/>
                <a:sym typeface="Montserrat Ultra-Bold"/>
              </a:rPr>
              <a:t>ARSITEKTUR MODEL</a:t>
            </a:r>
          </a:p>
        </p:txBody>
      </p:sp>
      <p:sp>
        <p:nvSpPr>
          <p:cNvPr name="Freeform 12" id="12"/>
          <p:cNvSpPr/>
          <p:nvPr/>
        </p:nvSpPr>
        <p:spPr>
          <a:xfrm flipH="false" flipV="false" rot="0">
            <a:off x="4013127" y="1714730"/>
            <a:ext cx="10261746" cy="6529036"/>
          </a:xfrm>
          <a:custGeom>
            <a:avLst/>
            <a:gdLst/>
            <a:ahLst/>
            <a:cxnLst/>
            <a:rect r="r" b="b" t="t" l="l"/>
            <a:pathLst>
              <a:path h="6529036" w="10261746">
                <a:moveTo>
                  <a:pt x="0" y="0"/>
                </a:moveTo>
                <a:lnTo>
                  <a:pt x="10261746" y="0"/>
                </a:lnTo>
                <a:lnTo>
                  <a:pt x="10261746" y="6529036"/>
                </a:lnTo>
                <a:lnTo>
                  <a:pt x="0" y="6529036"/>
                </a:lnTo>
                <a:lnTo>
                  <a:pt x="0" y="0"/>
                </a:lnTo>
                <a:close/>
              </a:path>
            </a:pathLst>
          </a:custGeom>
          <a:blipFill>
            <a:blip r:embed="rId4"/>
            <a:stretch>
              <a:fillRect l="0" t="0" r="0" b="0"/>
            </a:stretch>
          </a:blipFill>
        </p:spPr>
      </p:sp>
      <p:sp>
        <p:nvSpPr>
          <p:cNvPr name="TextBox 13" id="13"/>
          <p:cNvSpPr txBox="true"/>
          <p:nvPr/>
        </p:nvSpPr>
        <p:spPr>
          <a:xfrm rot="0">
            <a:off x="2774737" y="8614810"/>
            <a:ext cx="12738526" cy="1396955"/>
          </a:xfrm>
          <a:prstGeom prst="rect">
            <a:avLst/>
          </a:prstGeom>
        </p:spPr>
        <p:txBody>
          <a:bodyPr anchor="t" rtlCol="false" tIns="0" lIns="0" bIns="0" rIns="0">
            <a:spAutoFit/>
          </a:bodyPr>
          <a:lstStyle/>
          <a:p>
            <a:pPr algn="just">
              <a:lnSpc>
                <a:spcPts val="2802"/>
              </a:lnSpc>
            </a:pPr>
            <a:r>
              <a:rPr lang="en-US" sz="2001">
                <a:solidFill>
                  <a:srgbClr val="172406"/>
                </a:solidFill>
                <a:latin typeface="Montserrat"/>
                <a:ea typeface="Montserrat"/>
                <a:cs typeface="Montserrat"/>
                <a:sym typeface="Montserrat"/>
              </a:rPr>
              <a:t>Model ANN ini menggunakan Embedding Layer untuk memetakan makna tagar ke dalam vektor numerik, diikuti oleh Global Average Pooling untuk penyederhanaan fitur. Struktur ini dilengkapi dengan Hidden Layer (ReLU) dan Dropout untuk mencegah overfitting, serta lapisan output Sigmoid yang berfungsi menghasilkan probabilitas final apakah konten berpotensi viral atau tidak.</a:t>
            </a:r>
          </a:p>
        </p:txBody>
      </p:sp>
      <p:sp>
        <p:nvSpPr>
          <p:cNvPr name="Freeform 14" id="14"/>
          <p:cNvSpPr/>
          <p:nvPr/>
        </p:nvSpPr>
        <p:spPr>
          <a:xfrm flipH="false" flipV="false" rot="0">
            <a:off x="339842" y="272045"/>
            <a:ext cx="2073285" cy="906255"/>
          </a:xfrm>
          <a:custGeom>
            <a:avLst/>
            <a:gdLst/>
            <a:ahLst/>
            <a:cxnLst/>
            <a:rect r="r" b="b" t="t" l="l"/>
            <a:pathLst>
              <a:path h="906255" w="2073285">
                <a:moveTo>
                  <a:pt x="0" y="0"/>
                </a:moveTo>
                <a:lnTo>
                  <a:pt x="2073285" y="0"/>
                </a:lnTo>
                <a:lnTo>
                  <a:pt x="2073285" y="906255"/>
                </a:lnTo>
                <a:lnTo>
                  <a:pt x="0" y="906255"/>
                </a:lnTo>
                <a:lnTo>
                  <a:pt x="0" y="0"/>
                </a:lnTo>
                <a:close/>
              </a:path>
            </a:pathLst>
          </a:custGeom>
          <a:blipFill>
            <a:blip r:embed="rId5"/>
            <a:stretch>
              <a:fillRect l="0" t="0" r="0" b="-10288"/>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78745" y="7140033"/>
            <a:ext cx="3086100" cy="3406255"/>
            <a:chOff x="0" y="0"/>
            <a:chExt cx="812800" cy="897121"/>
          </a:xfrm>
        </p:grpSpPr>
        <p:sp>
          <p:nvSpPr>
            <p:cNvPr name="Freeform 3" id="3"/>
            <p:cNvSpPr/>
            <p:nvPr/>
          </p:nvSpPr>
          <p:spPr>
            <a:xfrm flipH="false" flipV="false" rot="0">
              <a:off x="0" y="0"/>
              <a:ext cx="812800" cy="897121"/>
            </a:xfrm>
            <a:custGeom>
              <a:avLst/>
              <a:gdLst/>
              <a:ahLst/>
              <a:cxnLst/>
              <a:rect r="r" b="b" t="t" l="l"/>
              <a:pathLst>
                <a:path h="897121" w="812800">
                  <a:moveTo>
                    <a:pt x="127941" y="0"/>
                  </a:moveTo>
                  <a:lnTo>
                    <a:pt x="684859" y="0"/>
                  </a:lnTo>
                  <a:cubicBezTo>
                    <a:pt x="718791" y="0"/>
                    <a:pt x="751333" y="13479"/>
                    <a:pt x="775327" y="37473"/>
                  </a:cubicBezTo>
                  <a:cubicBezTo>
                    <a:pt x="799321" y="61467"/>
                    <a:pt x="812800" y="94009"/>
                    <a:pt x="812800" y="127941"/>
                  </a:cubicBezTo>
                  <a:lnTo>
                    <a:pt x="812800" y="769180"/>
                  </a:lnTo>
                  <a:cubicBezTo>
                    <a:pt x="812800" y="803112"/>
                    <a:pt x="799321" y="835654"/>
                    <a:pt x="775327" y="859648"/>
                  </a:cubicBezTo>
                  <a:cubicBezTo>
                    <a:pt x="751333" y="883641"/>
                    <a:pt x="718791" y="897121"/>
                    <a:pt x="684859" y="897121"/>
                  </a:cubicBezTo>
                  <a:lnTo>
                    <a:pt x="127941" y="897121"/>
                  </a:lnTo>
                  <a:cubicBezTo>
                    <a:pt x="94009" y="897121"/>
                    <a:pt x="61467" y="883641"/>
                    <a:pt x="37473" y="859648"/>
                  </a:cubicBezTo>
                  <a:cubicBezTo>
                    <a:pt x="13479" y="835654"/>
                    <a:pt x="0" y="803112"/>
                    <a:pt x="0" y="769180"/>
                  </a:cubicBezTo>
                  <a:lnTo>
                    <a:pt x="0" y="127941"/>
                  </a:lnTo>
                  <a:cubicBezTo>
                    <a:pt x="0" y="94009"/>
                    <a:pt x="13479" y="61467"/>
                    <a:pt x="37473" y="37473"/>
                  </a:cubicBezTo>
                  <a:cubicBezTo>
                    <a:pt x="61467" y="13479"/>
                    <a:pt x="94009" y="0"/>
                    <a:pt x="127941" y="0"/>
                  </a:cubicBezTo>
                  <a:close/>
                </a:path>
              </a:pathLst>
            </a:custGeom>
            <a:solidFill>
              <a:srgbClr val="172406"/>
            </a:solidFill>
          </p:spPr>
        </p:sp>
        <p:sp>
          <p:nvSpPr>
            <p:cNvPr name="TextBox 4" id="4"/>
            <p:cNvSpPr txBox="true"/>
            <p:nvPr/>
          </p:nvSpPr>
          <p:spPr>
            <a:xfrm>
              <a:off x="0" y="-38100"/>
              <a:ext cx="812800" cy="93522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42035" y="9258300"/>
            <a:ext cx="1531460" cy="871623"/>
            <a:chOff x="0" y="0"/>
            <a:chExt cx="403348" cy="229563"/>
          </a:xfrm>
        </p:grpSpPr>
        <p:sp>
          <p:nvSpPr>
            <p:cNvPr name="Freeform 6" id="6"/>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172406"/>
            </a:solidFill>
          </p:spPr>
        </p:sp>
        <p:sp>
          <p:nvSpPr>
            <p:cNvPr name="TextBox 7" id="7"/>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1220" y="9299777"/>
            <a:ext cx="675384" cy="712470"/>
          </a:xfrm>
          <a:prstGeom prst="rect">
            <a:avLst/>
          </a:prstGeom>
        </p:spPr>
        <p:txBody>
          <a:bodyPr anchor="t" rtlCol="false" tIns="0" lIns="0" bIns="0" rIns="0">
            <a:spAutoFit/>
          </a:bodyPr>
          <a:lstStyle/>
          <a:p>
            <a:pPr algn="ctr">
              <a:lnSpc>
                <a:spcPts val="5880"/>
              </a:lnSpc>
            </a:pPr>
            <a:r>
              <a:rPr lang="en-US" b="true" sz="4200">
                <a:solidFill>
                  <a:srgbClr val="FFFFFF"/>
                </a:solidFill>
                <a:latin typeface="Montserrat Bold"/>
                <a:ea typeface="Montserrat Bold"/>
                <a:cs typeface="Montserrat Bold"/>
                <a:sym typeface="Montserrat Bold"/>
              </a:rPr>
              <a:t>11</a:t>
            </a:r>
          </a:p>
        </p:txBody>
      </p:sp>
      <p:sp>
        <p:nvSpPr>
          <p:cNvPr name="Freeform 9" id="9"/>
          <p:cNvSpPr/>
          <p:nvPr/>
        </p:nvSpPr>
        <p:spPr>
          <a:xfrm flipH="false" flipV="false" rot="0">
            <a:off x="16745100" y="0"/>
            <a:ext cx="1450345" cy="1450345"/>
          </a:xfrm>
          <a:custGeom>
            <a:avLst/>
            <a:gdLst/>
            <a:ahLst/>
            <a:cxnLst/>
            <a:rect r="r" b="b" t="t" l="l"/>
            <a:pathLst>
              <a:path h="1450345" w="1450345">
                <a:moveTo>
                  <a:pt x="0" y="0"/>
                </a:moveTo>
                <a:lnTo>
                  <a:pt x="1450345" y="0"/>
                </a:lnTo>
                <a:lnTo>
                  <a:pt x="1450345" y="1450345"/>
                </a:lnTo>
                <a:lnTo>
                  <a:pt x="0" y="1450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651312" y="8243766"/>
            <a:ext cx="1450345" cy="1450345"/>
          </a:xfrm>
          <a:custGeom>
            <a:avLst/>
            <a:gdLst/>
            <a:ahLst/>
            <a:cxnLst/>
            <a:rect r="r" b="b" t="t" l="l"/>
            <a:pathLst>
              <a:path h="1450345" w="1450345">
                <a:moveTo>
                  <a:pt x="0" y="0"/>
                </a:moveTo>
                <a:lnTo>
                  <a:pt x="1450345" y="0"/>
                </a:lnTo>
                <a:lnTo>
                  <a:pt x="1450345" y="1450346"/>
                </a:lnTo>
                <a:lnTo>
                  <a:pt x="0" y="14503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2450750" y="1933145"/>
            <a:ext cx="13386499" cy="6157790"/>
          </a:xfrm>
          <a:custGeom>
            <a:avLst/>
            <a:gdLst/>
            <a:ahLst/>
            <a:cxnLst/>
            <a:rect r="r" b="b" t="t" l="l"/>
            <a:pathLst>
              <a:path h="6157790" w="13386499">
                <a:moveTo>
                  <a:pt x="0" y="0"/>
                </a:moveTo>
                <a:lnTo>
                  <a:pt x="13386500" y="0"/>
                </a:lnTo>
                <a:lnTo>
                  <a:pt x="13386500" y="6157790"/>
                </a:lnTo>
                <a:lnTo>
                  <a:pt x="0" y="6157790"/>
                </a:lnTo>
                <a:lnTo>
                  <a:pt x="0" y="0"/>
                </a:lnTo>
                <a:close/>
              </a:path>
            </a:pathLst>
          </a:custGeom>
          <a:blipFill>
            <a:blip r:embed="rId4"/>
            <a:stretch>
              <a:fillRect l="0" t="0" r="0" b="0"/>
            </a:stretch>
          </a:blipFill>
        </p:spPr>
      </p:sp>
      <p:sp>
        <p:nvSpPr>
          <p:cNvPr name="TextBox 12" id="12"/>
          <p:cNvSpPr txBox="true"/>
          <p:nvPr/>
        </p:nvSpPr>
        <p:spPr>
          <a:xfrm rot="0">
            <a:off x="2847257" y="298618"/>
            <a:ext cx="12593486" cy="1285875"/>
          </a:xfrm>
          <a:prstGeom prst="rect">
            <a:avLst/>
          </a:prstGeom>
        </p:spPr>
        <p:txBody>
          <a:bodyPr anchor="t" rtlCol="false" tIns="0" lIns="0" bIns="0" rIns="0">
            <a:spAutoFit/>
          </a:bodyPr>
          <a:lstStyle/>
          <a:p>
            <a:pPr algn="ctr">
              <a:lnSpc>
                <a:spcPts val="4950"/>
              </a:lnSpc>
            </a:pPr>
            <a:r>
              <a:rPr lang="en-US" b="true" sz="5000">
                <a:solidFill>
                  <a:srgbClr val="172406"/>
                </a:solidFill>
                <a:latin typeface="Montserrat Ultra-Bold"/>
                <a:ea typeface="Montserrat Ultra-Bold"/>
                <a:cs typeface="Montserrat Ultra-Bold"/>
                <a:sym typeface="Montserrat Ultra-Bold"/>
              </a:rPr>
              <a:t>TRAINING VS VALIDATION (ACCURACY &amp; LOSS)</a:t>
            </a:r>
          </a:p>
        </p:txBody>
      </p:sp>
      <p:sp>
        <p:nvSpPr>
          <p:cNvPr name="TextBox 13" id="13"/>
          <p:cNvSpPr txBox="true"/>
          <p:nvPr/>
        </p:nvSpPr>
        <p:spPr>
          <a:xfrm rot="0">
            <a:off x="2998452" y="8405260"/>
            <a:ext cx="12291096" cy="1396955"/>
          </a:xfrm>
          <a:prstGeom prst="rect">
            <a:avLst/>
          </a:prstGeom>
        </p:spPr>
        <p:txBody>
          <a:bodyPr anchor="t" rtlCol="false" tIns="0" lIns="0" bIns="0" rIns="0">
            <a:spAutoFit/>
          </a:bodyPr>
          <a:lstStyle/>
          <a:p>
            <a:pPr algn="just">
              <a:lnSpc>
                <a:spcPts val="2802"/>
              </a:lnSpc>
            </a:pPr>
            <a:r>
              <a:rPr lang="en-US" sz="2001">
                <a:solidFill>
                  <a:srgbClr val="172406"/>
                </a:solidFill>
                <a:latin typeface="Montserrat"/>
                <a:ea typeface="Montserrat"/>
                <a:cs typeface="Montserrat"/>
                <a:sym typeface="Montserrat"/>
              </a:rPr>
              <a:t>Gambar ini menunjukkan grafik Accuracy dan Loss selama 20 epoch pelatihan. Grafik ini membuktikan bahwa model "belajar" dengan baik karena akurasi meningkat dan loss menurun secara konsisten. Tidak adanya celah lebar antara garis training dan validation menunjukkan bahwa model kita stabil dan tidak mengalami overfitting (menghafal data).</a:t>
            </a:r>
          </a:p>
        </p:txBody>
      </p:sp>
      <p:sp>
        <p:nvSpPr>
          <p:cNvPr name="Freeform 14" id="14"/>
          <p:cNvSpPr/>
          <p:nvPr/>
        </p:nvSpPr>
        <p:spPr>
          <a:xfrm flipH="false" flipV="false" rot="0">
            <a:off x="339842" y="272045"/>
            <a:ext cx="2073285" cy="906255"/>
          </a:xfrm>
          <a:custGeom>
            <a:avLst/>
            <a:gdLst/>
            <a:ahLst/>
            <a:cxnLst/>
            <a:rect r="r" b="b" t="t" l="l"/>
            <a:pathLst>
              <a:path h="906255" w="2073285">
                <a:moveTo>
                  <a:pt x="0" y="0"/>
                </a:moveTo>
                <a:lnTo>
                  <a:pt x="2073285" y="0"/>
                </a:lnTo>
                <a:lnTo>
                  <a:pt x="2073285" y="906255"/>
                </a:lnTo>
                <a:lnTo>
                  <a:pt x="0" y="906255"/>
                </a:lnTo>
                <a:lnTo>
                  <a:pt x="0" y="0"/>
                </a:lnTo>
                <a:close/>
              </a:path>
            </a:pathLst>
          </a:custGeom>
          <a:blipFill>
            <a:blip r:embed="rId5"/>
            <a:stretch>
              <a:fillRect l="0" t="0" r="0" b="-10288"/>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78745" y="7140033"/>
            <a:ext cx="3086100" cy="3406255"/>
            <a:chOff x="0" y="0"/>
            <a:chExt cx="812800" cy="897121"/>
          </a:xfrm>
        </p:grpSpPr>
        <p:sp>
          <p:nvSpPr>
            <p:cNvPr name="Freeform 3" id="3"/>
            <p:cNvSpPr/>
            <p:nvPr/>
          </p:nvSpPr>
          <p:spPr>
            <a:xfrm flipH="false" flipV="false" rot="0">
              <a:off x="0" y="0"/>
              <a:ext cx="812800" cy="897121"/>
            </a:xfrm>
            <a:custGeom>
              <a:avLst/>
              <a:gdLst/>
              <a:ahLst/>
              <a:cxnLst/>
              <a:rect r="r" b="b" t="t" l="l"/>
              <a:pathLst>
                <a:path h="897121" w="812800">
                  <a:moveTo>
                    <a:pt x="127941" y="0"/>
                  </a:moveTo>
                  <a:lnTo>
                    <a:pt x="684859" y="0"/>
                  </a:lnTo>
                  <a:cubicBezTo>
                    <a:pt x="718791" y="0"/>
                    <a:pt x="751333" y="13479"/>
                    <a:pt x="775327" y="37473"/>
                  </a:cubicBezTo>
                  <a:cubicBezTo>
                    <a:pt x="799321" y="61467"/>
                    <a:pt x="812800" y="94009"/>
                    <a:pt x="812800" y="127941"/>
                  </a:cubicBezTo>
                  <a:lnTo>
                    <a:pt x="812800" y="769180"/>
                  </a:lnTo>
                  <a:cubicBezTo>
                    <a:pt x="812800" y="803112"/>
                    <a:pt x="799321" y="835654"/>
                    <a:pt x="775327" y="859648"/>
                  </a:cubicBezTo>
                  <a:cubicBezTo>
                    <a:pt x="751333" y="883641"/>
                    <a:pt x="718791" y="897121"/>
                    <a:pt x="684859" y="897121"/>
                  </a:cubicBezTo>
                  <a:lnTo>
                    <a:pt x="127941" y="897121"/>
                  </a:lnTo>
                  <a:cubicBezTo>
                    <a:pt x="94009" y="897121"/>
                    <a:pt x="61467" y="883641"/>
                    <a:pt x="37473" y="859648"/>
                  </a:cubicBezTo>
                  <a:cubicBezTo>
                    <a:pt x="13479" y="835654"/>
                    <a:pt x="0" y="803112"/>
                    <a:pt x="0" y="769180"/>
                  </a:cubicBezTo>
                  <a:lnTo>
                    <a:pt x="0" y="127941"/>
                  </a:lnTo>
                  <a:cubicBezTo>
                    <a:pt x="0" y="94009"/>
                    <a:pt x="13479" y="61467"/>
                    <a:pt x="37473" y="37473"/>
                  </a:cubicBezTo>
                  <a:cubicBezTo>
                    <a:pt x="61467" y="13479"/>
                    <a:pt x="94009" y="0"/>
                    <a:pt x="127941" y="0"/>
                  </a:cubicBezTo>
                  <a:close/>
                </a:path>
              </a:pathLst>
            </a:custGeom>
            <a:solidFill>
              <a:srgbClr val="172406"/>
            </a:solidFill>
          </p:spPr>
        </p:sp>
        <p:sp>
          <p:nvSpPr>
            <p:cNvPr name="TextBox 4" id="4"/>
            <p:cNvSpPr txBox="true"/>
            <p:nvPr/>
          </p:nvSpPr>
          <p:spPr>
            <a:xfrm>
              <a:off x="0" y="-38100"/>
              <a:ext cx="812800" cy="93522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42035" y="9258300"/>
            <a:ext cx="1531460" cy="871623"/>
            <a:chOff x="0" y="0"/>
            <a:chExt cx="403348" cy="229563"/>
          </a:xfrm>
        </p:grpSpPr>
        <p:sp>
          <p:nvSpPr>
            <p:cNvPr name="Freeform 6" id="6"/>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172406"/>
            </a:solidFill>
          </p:spPr>
        </p:sp>
        <p:sp>
          <p:nvSpPr>
            <p:cNvPr name="TextBox 7" id="7"/>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51312" y="889168"/>
            <a:ext cx="2478699" cy="891145"/>
            <a:chOff x="0" y="0"/>
            <a:chExt cx="508152" cy="182692"/>
          </a:xfrm>
        </p:grpSpPr>
        <p:sp>
          <p:nvSpPr>
            <p:cNvPr name="Freeform 9" id="9"/>
            <p:cNvSpPr/>
            <p:nvPr/>
          </p:nvSpPr>
          <p:spPr>
            <a:xfrm flipH="false" flipV="false" rot="0">
              <a:off x="0" y="0"/>
              <a:ext cx="508152" cy="182692"/>
            </a:xfrm>
            <a:custGeom>
              <a:avLst/>
              <a:gdLst/>
              <a:ahLst/>
              <a:cxnLst/>
              <a:rect r="r" b="b" t="t" l="l"/>
              <a:pathLst>
                <a:path h="182692" w="508152">
                  <a:moveTo>
                    <a:pt x="61004" y="0"/>
                  </a:moveTo>
                  <a:lnTo>
                    <a:pt x="447148" y="0"/>
                  </a:lnTo>
                  <a:cubicBezTo>
                    <a:pt x="480840" y="0"/>
                    <a:pt x="508152" y="27312"/>
                    <a:pt x="508152" y="61004"/>
                  </a:cubicBezTo>
                  <a:lnTo>
                    <a:pt x="508152" y="121688"/>
                  </a:lnTo>
                  <a:cubicBezTo>
                    <a:pt x="508152" y="137867"/>
                    <a:pt x="501725" y="153384"/>
                    <a:pt x="490285" y="164824"/>
                  </a:cubicBezTo>
                  <a:cubicBezTo>
                    <a:pt x="478844" y="176264"/>
                    <a:pt x="463328" y="182692"/>
                    <a:pt x="447148" y="182692"/>
                  </a:cubicBezTo>
                  <a:lnTo>
                    <a:pt x="61004" y="182692"/>
                  </a:lnTo>
                  <a:cubicBezTo>
                    <a:pt x="27312" y="182692"/>
                    <a:pt x="0" y="155379"/>
                    <a:pt x="0" y="121688"/>
                  </a:cubicBezTo>
                  <a:lnTo>
                    <a:pt x="0" y="61004"/>
                  </a:lnTo>
                  <a:cubicBezTo>
                    <a:pt x="0" y="27312"/>
                    <a:pt x="27312" y="0"/>
                    <a:pt x="61004" y="0"/>
                  </a:cubicBezTo>
                  <a:close/>
                </a:path>
              </a:pathLst>
            </a:custGeom>
            <a:solidFill>
              <a:srgbClr val="FFFFFF"/>
            </a:solidFill>
          </p:spPr>
        </p:sp>
        <p:sp>
          <p:nvSpPr>
            <p:cNvPr name="TextBox 10" id="10"/>
            <p:cNvSpPr txBox="true"/>
            <p:nvPr/>
          </p:nvSpPr>
          <p:spPr>
            <a:xfrm>
              <a:off x="0" y="-38100"/>
              <a:ext cx="508152" cy="220792"/>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61220" y="9299777"/>
            <a:ext cx="675384" cy="712470"/>
          </a:xfrm>
          <a:prstGeom prst="rect">
            <a:avLst/>
          </a:prstGeom>
        </p:spPr>
        <p:txBody>
          <a:bodyPr anchor="t" rtlCol="false" tIns="0" lIns="0" bIns="0" rIns="0">
            <a:spAutoFit/>
          </a:bodyPr>
          <a:lstStyle/>
          <a:p>
            <a:pPr algn="ctr">
              <a:lnSpc>
                <a:spcPts val="5880"/>
              </a:lnSpc>
            </a:pPr>
            <a:r>
              <a:rPr lang="en-US" b="true" sz="4200">
                <a:solidFill>
                  <a:srgbClr val="FFFFFF"/>
                </a:solidFill>
                <a:latin typeface="Montserrat Bold"/>
                <a:ea typeface="Montserrat Bold"/>
                <a:cs typeface="Montserrat Bold"/>
                <a:sym typeface="Montserrat Bold"/>
              </a:rPr>
              <a:t>12</a:t>
            </a:r>
          </a:p>
        </p:txBody>
      </p:sp>
      <p:sp>
        <p:nvSpPr>
          <p:cNvPr name="Freeform 12" id="12"/>
          <p:cNvSpPr/>
          <p:nvPr/>
        </p:nvSpPr>
        <p:spPr>
          <a:xfrm flipH="false" flipV="false" rot="0">
            <a:off x="16745100" y="0"/>
            <a:ext cx="1450345" cy="1450345"/>
          </a:xfrm>
          <a:custGeom>
            <a:avLst/>
            <a:gdLst/>
            <a:ahLst/>
            <a:cxnLst/>
            <a:rect r="r" b="b" t="t" l="l"/>
            <a:pathLst>
              <a:path h="1450345" w="1450345">
                <a:moveTo>
                  <a:pt x="0" y="0"/>
                </a:moveTo>
                <a:lnTo>
                  <a:pt x="1450345" y="0"/>
                </a:lnTo>
                <a:lnTo>
                  <a:pt x="1450345" y="1450345"/>
                </a:lnTo>
                <a:lnTo>
                  <a:pt x="0" y="1450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5686804" y="1625037"/>
            <a:ext cx="6914391" cy="6463453"/>
          </a:xfrm>
          <a:custGeom>
            <a:avLst/>
            <a:gdLst/>
            <a:ahLst/>
            <a:cxnLst/>
            <a:rect r="r" b="b" t="t" l="l"/>
            <a:pathLst>
              <a:path h="6463453" w="6914391">
                <a:moveTo>
                  <a:pt x="0" y="0"/>
                </a:moveTo>
                <a:lnTo>
                  <a:pt x="6914392" y="0"/>
                </a:lnTo>
                <a:lnTo>
                  <a:pt x="6914392" y="6463453"/>
                </a:lnTo>
                <a:lnTo>
                  <a:pt x="0" y="6463453"/>
                </a:lnTo>
                <a:lnTo>
                  <a:pt x="0" y="0"/>
                </a:lnTo>
                <a:close/>
              </a:path>
            </a:pathLst>
          </a:custGeom>
          <a:blipFill>
            <a:blip r:embed="rId4"/>
            <a:stretch>
              <a:fillRect l="0" t="0" r="0" b="0"/>
            </a:stretch>
          </a:blipFill>
        </p:spPr>
      </p:sp>
      <p:sp>
        <p:nvSpPr>
          <p:cNvPr name="TextBox 14" id="14"/>
          <p:cNvSpPr txBox="true"/>
          <p:nvPr/>
        </p:nvSpPr>
        <p:spPr>
          <a:xfrm rot="0">
            <a:off x="2847257" y="612943"/>
            <a:ext cx="12593486" cy="657225"/>
          </a:xfrm>
          <a:prstGeom prst="rect">
            <a:avLst/>
          </a:prstGeom>
        </p:spPr>
        <p:txBody>
          <a:bodyPr anchor="t" rtlCol="false" tIns="0" lIns="0" bIns="0" rIns="0">
            <a:spAutoFit/>
          </a:bodyPr>
          <a:lstStyle/>
          <a:p>
            <a:pPr algn="ctr">
              <a:lnSpc>
                <a:spcPts val="4950"/>
              </a:lnSpc>
            </a:pPr>
            <a:r>
              <a:rPr lang="en-US" b="true" sz="5000">
                <a:solidFill>
                  <a:srgbClr val="172406"/>
                </a:solidFill>
                <a:latin typeface="Montserrat Ultra-Bold"/>
                <a:ea typeface="Montserrat Ultra-Bold"/>
                <a:cs typeface="Montserrat Ultra-Bold"/>
                <a:sym typeface="Montserrat Ultra-Bold"/>
              </a:rPr>
              <a:t>CONFUSION MATRIX</a:t>
            </a:r>
          </a:p>
        </p:txBody>
      </p:sp>
      <p:sp>
        <p:nvSpPr>
          <p:cNvPr name="TextBox 15" id="15"/>
          <p:cNvSpPr txBox="true"/>
          <p:nvPr/>
        </p:nvSpPr>
        <p:spPr>
          <a:xfrm rot="0">
            <a:off x="2270676" y="8405260"/>
            <a:ext cx="13746648" cy="1396955"/>
          </a:xfrm>
          <a:prstGeom prst="rect">
            <a:avLst/>
          </a:prstGeom>
        </p:spPr>
        <p:txBody>
          <a:bodyPr anchor="t" rtlCol="false" tIns="0" lIns="0" bIns="0" rIns="0">
            <a:spAutoFit/>
          </a:bodyPr>
          <a:lstStyle/>
          <a:p>
            <a:pPr algn="just">
              <a:lnSpc>
                <a:spcPts val="2802"/>
              </a:lnSpc>
            </a:pPr>
            <a:r>
              <a:rPr lang="en-US" sz="2001">
                <a:solidFill>
                  <a:srgbClr val="172406"/>
                </a:solidFill>
                <a:latin typeface="Montserrat"/>
                <a:ea typeface="Montserrat"/>
                <a:cs typeface="Montserrat"/>
                <a:sym typeface="Montserrat"/>
              </a:rPr>
              <a:t>Confusion Matrix ini adalah bukti nyata akurasi model di lapangan. Gambar ini menunjukkan seberapa akurat AI dalam membedakan konten High View dan Low View. Dengan melihat matriks ini, kita bisa melihat bahwa model memiliki presisi yang baik dalam mengenali konten potensial, yang membuktikan bahwa sistem ini layak digunakan sebagai alat pendukung keputusan (Decision Support System).</a:t>
            </a:r>
          </a:p>
        </p:txBody>
      </p:sp>
      <p:sp>
        <p:nvSpPr>
          <p:cNvPr name="Freeform 16" id="16"/>
          <p:cNvSpPr/>
          <p:nvPr/>
        </p:nvSpPr>
        <p:spPr>
          <a:xfrm flipH="false" flipV="false" rot="0">
            <a:off x="339842" y="272045"/>
            <a:ext cx="2073285" cy="906255"/>
          </a:xfrm>
          <a:custGeom>
            <a:avLst/>
            <a:gdLst/>
            <a:ahLst/>
            <a:cxnLst/>
            <a:rect r="r" b="b" t="t" l="l"/>
            <a:pathLst>
              <a:path h="906255" w="2073285">
                <a:moveTo>
                  <a:pt x="0" y="0"/>
                </a:moveTo>
                <a:lnTo>
                  <a:pt x="2073285" y="0"/>
                </a:lnTo>
                <a:lnTo>
                  <a:pt x="2073285" y="906255"/>
                </a:lnTo>
                <a:lnTo>
                  <a:pt x="0" y="906255"/>
                </a:lnTo>
                <a:lnTo>
                  <a:pt x="0" y="0"/>
                </a:lnTo>
                <a:close/>
              </a:path>
            </a:pathLst>
          </a:custGeom>
          <a:blipFill>
            <a:blip r:embed="rId5"/>
            <a:stretch>
              <a:fillRect l="0" t="0" r="0" b="-10288"/>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78745" y="7140033"/>
            <a:ext cx="3086100" cy="3406255"/>
            <a:chOff x="0" y="0"/>
            <a:chExt cx="812800" cy="897121"/>
          </a:xfrm>
        </p:grpSpPr>
        <p:sp>
          <p:nvSpPr>
            <p:cNvPr name="Freeform 3" id="3"/>
            <p:cNvSpPr/>
            <p:nvPr/>
          </p:nvSpPr>
          <p:spPr>
            <a:xfrm flipH="false" flipV="false" rot="0">
              <a:off x="0" y="0"/>
              <a:ext cx="812800" cy="897121"/>
            </a:xfrm>
            <a:custGeom>
              <a:avLst/>
              <a:gdLst/>
              <a:ahLst/>
              <a:cxnLst/>
              <a:rect r="r" b="b" t="t" l="l"/>
              <a:pathLst>
                <a:path h="897121" w="812800">
                  <a:moveTo>
                    <a:pt x="127941" y="0"/>
                  </a:moveTo>
                  <a:lnTo>
                    <a:pt x="684859" y="0"/>
                  </a:lnTo>
                  <a:cubicBezTo>
                    <a:pt x="718791" y="0"/>
                    <a:pt x="751333" y="13479"/>
                    <a:pt x="775327" y="37473"/>
                  </a:cubicBezTo>
                  <a:cubicBezTo>
                    <a:pt x="799321" y="61467"/>
                    <a:pt x="812800" y="94009"/>
                    <a:pt x="812800" y="127941"/>
                  </a:cubicBezTo>
                  <a:lnTo>
                    <a:pt x="812800" y="769180"/>
                  </a:lnTo>
                  <a:cubicBezTo>
                    <a:pt x="812800" y="803112"/>
                    <a:pt x="799321" y="835654"/>
                    <a:pt x="775327" y="859648"/>
                  </a:cubicBezTo>
                  <a:cubicBezTo>
                    <a:pt x="751333" y="883641"/>
                    <a:pt x="718791" y="897121"/>
                    <a:pt x="684859" y="897121"/>
                  </a:cubicBezTo>
                  <a:lnTo>
                    <a:pt x="127941" y="897121"/>
                  </a:lnTo>
                  <a:cubicBezTo>
                    <a:pt x="94009" y="897121"/>
                    <a:pt x="61467" y="883641"/>
                    <a:pt x="37473" y="859648"/>
                  </a:cubicBezTo>
                  <a:cubicBezTo>
                    <a:pt x="13479" y="835654"/>
                    <a:pt x="0" y="803112"/>
                    <a:pt x="0" y="769180"/>
                  </a:cubicBezTo>
                  <a:lnTo>
                    <a:pt x="0" y="127941"/>
                  </a:lnTo>
                  <a:cubicBezTo>
                    <a:pt x="0" y="94009"/>
                    <a:pt x="13479" y="61467"/>
                    <a:pt x="37473" y="37473"/>
                  </a:cubicBezTo>
                  <a:cubicBezTo>
                    <a:pt x="61467" y="13479"/>
                    <a:pt x="94009" y="0"/>
                    <a:pt x="127941" y="0"/>
                  </a:cubicBezTo>
                  <a:close/>
                </a:path>
              </a:pathLst>
            </a:custGeom>
            <a:solidFill>
              <a:srgbClr val="172406"/>
            </a:solidFill>
          </p:spPr>
        </p:sp>
        <p:sp>
          <p:nvSpPr>
            <p:cNvPr name="TextBox 4" id="4"/>
            <p:cNvSpPr txBox="true"/>
            <p:nvPr/>
          </p:nvSpPr>
          <p:spPr>
            <a:xfrm>
              <a:off x="0" y="-38100"/>
              <a:ext cx="812800" cy="93522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42035" y="9258300"/>
            <a:ext cx="1531460" cy="871623"/>
            <a:chOff x="0" y="0"/>
            <a:chExt cx="403348" cy="229563"/>
          </a:xfrm>
        </p:grpSpPr>
        <p:sp>
          <p:nvSpPr>
            <p:cNvPr name="Freeform 6" id="6"/>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172406"/>
            </a:solidFill>
          </p:spPr>
        </p:sp>
        <p:sp>
          <p:nvSpPr>
            <p:cNvPr name="TextBox 7" id="7"/>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51312" y="889168"/>
            <a:ext cx="2478699" cy="891145"/>
            <a:chOff x="0" y="0"/>
            <a:chExt cx="508152" cy="182692"/>
          </a:xfrm>
        </p:grpSpPr>
        <p:sp>
          <p:nvSpPr>
            <p:cNvPr name="Freeform 9" id="9"/>
            <p:cNvSpPr/>
            <p:nvPr/>
          </p:nvSpPr>
          <p:spPr>
            <a:xfrm flipH="false" flipV="false" rot="0">
              <a:off x="0" y="0"/>
              <a:ext cx="508152" cy="182692"/>
            </a:xfrm>
            <a:custGeom>
              <a:avLst/>
              <a:gdLst/>
              <a:ahLst/>
              <a:cxnLst/>
              <a:rect r="r" b="b" t="t" l="l"/>
              <a:pathLst>
                <a:path h="182692" w="508152">
                  <a:moveTo>
                    <a:pt x="61004" y="0"/>
                  </a:moveTo>
                  <a:lnTo>
                    <a:pt x="447148" y="0"/>
                  </a:lnTo>
                  <a:cubicBezTo>
                    <a:pt x="480840" y="0"/>
                    <a:pt x="508152" y="27312"/>
                    <a:pt x="508152" y="61004"/>
                  </a:cubicBezTo>
                  <a:lnTo>
                    <a:pt x="508152" y="121688"/>
                  </a:lnTo>
                  <a:cubicBezTo>
                    <a:pt x="508152" y="137867"/>
                    <a:pt x="501725" y="153384"/>
                    <a:pt x="490285" y="164824"/>
                  </a:cubicBezTo>
                  <a:cubicBezTo>
                    <a:pt x="478844" y="176264"/>
                    <a:pt x="463328" y="182692"/>
                    <a:pt x="447148" y="182692"/>
                  </a:cubicBezTo>
                  <a:lnTo>
                    <a:pt x="61004" y="182692"/>
                  </a:lnTo>
                  <a:cubicBezTo>
                    <a:pt x="27312" y="182692"/>
                    <a:pt x="0" y="155379"/>
                    <a:pt x="0" y="121688"/>
                  </a:cubicBezTo>
                  <a:lnTo>
                    <a:pt x="0" y="61004"/>
                  </a:lnTo>
                  <a:cubicBezTo>
                    <a:pt x="0" y="27312"/>
                    <a:pt x="27312" y="0"/>
                    <a:pt x="61004" y="0"/>
                  </a:cubicBezTo>
                  <a:close/>
                </a:path>
              </a:pathLst>
            </a:custGeom>
            <a:solidFill>
              <a:srgbClr val="FFFFFF"/>
            </a:solidFill>
          </p:spPr>
        </p:sp>
        <p:sp>
          <p:nvSpPr>
            <p:cNvPr name="TextBox 10" id="10"/>
            <p:cNvSpPr txBox="true"/>
            <p:nvPr/>
          </p:nvSpPr>
          <p:spPr>
            <a:xfrm>
              <a:off x="0" y="-38100"/>
              <a:ext cx="508152" cy="220792"/>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61220" y="9299777"/>
            <a:ext cx="675384" cy="712470"/>
          </a:xfrm>
          <a:prstGeom prst="rect">
            <a:avLst/>
          </a:prstGeom>
        </p:spPr>
        <p:txBody>
          <a:bodyPr anchor="t" rtlCol="false" tIns="0" lIns="0" bIns="0" rIns="0">
            <a:spAutoFit/>
          </a:bodyPr>
          <a:lstStyle/>
          <a:p>
            <a:pPr algn="ctr">
              <a:lnSpc>
                <a:spcPts val="5880"/>
              </a:lnSpc>
            </a:pPr>
            <a:r>
              <a:rPr lang="en-US" b="true" sz="4200">
                <a:solidFill>
                  <a:srgbClr val="FFFFFF"/>
                </a:solidFill>
                <a:latin typeface="Montserrat Bold"/>
                <a:ea typeface="Montserrat Bold"/>
                <a:cs typeface="Montserrat Bold"/>
                <a:sym typeface="Montserrat Bold"/>
              </a:rPr>
              <a:t>13</a:t>
            </a:r>
          </a:p>
        </p:txBody>
      </p:sp>
      <p:sp>
        <p:nvSpPr>
          <p:cNvPr name="Freeform 12" id="12"/>
          <p:cNvSpPr/>
          <p:nvPr/>
        </p:nvSpPr>
        <p:spPr>
          <a:xfrm flipH="false" flipV="false" rot="0">
            <a:off x="16745100" y="0"/>
            <a:ext cx="1450345" cy="1450345"/>
          </a:xfrm>
          <a:custGeom>
            <a:avLst/>
            <a:gdLst/>
            <a:ahLst/>
            <a:cxnLst/>
            <a:rect r="r" b="b" t="t" l="l"/>
            <a:pathLst>
              <a:path h="1450345" w="1450345">
                <a:moveTo>
                  <a:pt x="0" y="0"/>
                </a:moveTo>
                <a:lnTo>
                  <a:pt x="1450345" y="0"/>
                </a:lnTo>
                <a:lnTo>
                  <a:pt x="1450345" y="1450345"/>
                </a:lnTo>
                <a:lnTo>
                  <a:pt x="0" y="1450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651312" y="8243766"/>
            <a:ext cx="1450345" cy="1450345"/>
          </a:xfrm>
          <a:custGeom>
            <a:avLst/>
            <a:gdLst/>
            <a:ahLst/>
            <a:cxnLst/>
            <a:rect r="r" b="b" t="t" l="l"/>
            <a:pathLst>
              <a:path h="1450345" w="1450345">
                <a:moveTo>
                  <a:pt x="0" y="0"/>
                </a:moveTo>
                <a:lnTo>
                  <a:pt x="1450345" y="0"/>
                </a:lnTo>
                <a:lnTo>
                  <a:pt x="1450345" y="1450346"/>
                </a:lnTo>
                <a:lnTo>
                  <a:pt x="0" y="14503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2219633" y="2348871"/>
            <a:ext cx="13848734" cy="4760502"/>
          </a:xfrm>
          <a:custGeom>
            <a:avLst/>
            <a:gdLst/>
            <a:ahLst/>
            <a:cxnLst/>
            <a:rect r="r" b="b" t="t" l="l"/>
            <a:pathLst>
              <a:path h="4760502" w="13848734">
                <a:moveTo>
                  <a:pt x="0" y="0"/>
                </a:moveTo>
                <a:lnTo>
                  <a:pt x="13848734" y="0"/>
                </a:lnTo>
                <a:lnTo>
                  <a:pt x="13848734" y="4760502"/>
                </a:lnTo>
                <a:lnTo>
                  <a:pt x="0" y="4760502"/>
                </a:lnTo>
                <a:lnTo>
                  <a:pt x="0" y="0"/>
                </a:lnTo>
                <a:close/>
              </a:path>
            </a:pathLst>
          </a:custGeom>
          <a:blipFill>
            <a:blip r:embed="rId4"/>
            <a:stretch>
              <a:fillRect l="0" t="0" r="0" b="0"/>
            </a:stretch>
          </a:blipFill>
        </p:spPr>
      </p:sp>
      <p:sp>
        <p:nvSpPr>
          <p:cNvPr name="TextBox 15" id="15"/>
          <p:cNvSpPr txBox="true"/>
          <p:nvPr/>
        </p:nvSpPr>
        <p:spPr>
          <a:xfrm rot="0">
            <a:off x="3135363" y="1012993"/>
            <a:ext cx="12017273" cy="788670"/>
          </a:xfrm>
          <a:prstGeom prst="rect">
            <a:avLst/>
          </a:prstGeom>
        </p:spPr>
        <p:txBody>
          <a:bodyPr anchor="t" rtlCol="false" tIns="0" lIns="0" bIns="0" rIns="0">
            <a:spAutoFit/>
          </a:bodyPr>
          <a:lstStyle/>
          <a:p>
            <a:pPr algn="ctr">
              <a:lnSpc>
                <a:spcPts val="5940"/>
              </a:lnSpc>
            </a:pPr>
            <a:r>
              <a:rPr lang="en-US" sz="6000" b="true">
                <a:solidFill>
                  <a:srgbClr val="172406"/>
                </a:solidFill>
                <a:latin typeface="Montserrat Ultra-Bold"/>
                <a:ea typeface="Montserrat Ultra-Bold"/>
                <a:cs typeface="Montserrat Ultra-Bold"/>
                <a:sym typeface="Montserrat Ultra-Bold"/>
              </a:rPr>
              <a:t>ANALISIS SEMANTIK</a:t>
            </a:r>
          </a:p>
        </p:txBody>
      </p:sp>
      <p:sp>
        <p:nvSpPr>
          <p:cNvPr name="TextBox 16" id="16"/>
          <p:cNvSpPr txBox="true"/>
          <p:nvPr/>
        </p:nvSpPr>
        <p:spPr>
          <a:xfrm rot="0">
            <a:off x="2774737" y="7705414"/>
            <a:ext cx="12738526" cy="1396955"/>
          </a:xfrm>
          <a:prstGeom prst="rect">
            <a:avLst/>
          </a:prstGeom>
        </p:spPr>
        <p:txBody>
          <a:bodyPr anchor="t" rtlCol="false" tIns="0" lIns="0" bIns="0" rIns="0">
            <a:spAutoFit/>
          </a:bodyPr>
          <a:lstStyle/>
          <a:p>
            <a:pPr algn="just">
              <a:lnSpc>
                <a:spcPts val="2802"/>
              </a:lnSpc>
            </a:pPr>
            <a:r>
              <a:rPr lang="en-US" sz="2001">
                <a:solidFill>
                  <a:srgbClr val="172406"/>
                </a:solidFill>
                <a:latin typeface="Montserrat"/>
                <a:ea typeface="Montserrat"/>
                <a:cs typeface="Montserrat"/>
                <a:sym typeface="Montserrat"/>
              </a:rPr>
              <a:t>Sistem ini mengekstraksi bobot Embedding untuk mengidentifikasi tagar dengan dampak viral tertinggi melalui perhitungan norma vektor. Analisis ini memungkinkan penentuan kata kunci strategis seperti #tech atau #ev secara otomatis berdasarkan pola data semantik yang telah dipelajari oleh model selama proses pelatihan.</a:t>
            </a:r>
          </a:p>
        </p:txBody>
      </p:sp>
      <p:sp>
        <p:nvSpPr>
          <p:cNvPr name="Freeform 17" id="17"/>
          <p:cNvSpPr/>
          <p:nvPr/>
        </p:nvSpPr>
        <p:spPr>
          <a:xfrm flipH="false" flipV="false" rot="0">
            <a:off x="339842" y="272045"/>
            <a:ext cx="2073285" cy="906255"/>
          </a:xfrm>
          <a:custGeom>
            <a:avLst/>
            <a:gdLst/>
            <a:ahLst/>
            <a:cxnLst/>
            <a:rect r="r" b="b" t="t" l="l"/>
            <a:pathLst>
              <a:path h="906255" w="2073285">
                <a:moveTo>
                  <a:pt x="0" y="0"/>
                </a:moveTo>
                <a:lnTo>
                  <a:pt x="2073285" y="0"/>
                </a:lnTo>
                <a:lnTo>
                  <a:pt x="2073285" y="906255"/>
                </a:lnTo>
                <a:lnTo>
                  <a:pt x="0" y="906255"/>
                </a:lnTo>
                <a:lnTo>
                  <a:pt x="0" y="0"/>
                </a:lnTo>
                <a:close/>
              </a:path>
            </a:pathLst>
          </a:custGeom>
          <a:blipFill>
            <a:blip r:embed="rId5"/>
            <a:stretch>
              <a:fillRect l="0" t="0" r="0" b="-10288"/>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78745" y="7140033"/>
            <a:ext cx="3086100" cy="3406255"/>
            <a:chOff x="0" y="0"/>
            <a:chExt cx="812800" cy="897121"/>
          </a:xfrm>
        </p:grpSpPr>
        <p:sp>
          <p:nvSpPr>
            <p:cNvPr name="Freeform 3" id="3"/>
            <p:cNvSpPr/>
            <p:nvPr/>
          </p:nvSpPr>
          <p:spPr>
            <a:xfrm flipH="false" flipV="false" rot="0">
              <a:off x="0" y="0"/>
              <a:ext cx="812800" cy="897121"/>
            </a:xfrm>
            <a:custGeom>
              <a:avLst/>
              <a:gdLst/>
              <a:ahLst/>
              <a:cxnLst/>
              <a:rect r="r" b="b" t="t" l="l"/>
              <a:pathLst>
                <a:path h="897121" w="812800">
                  <a:moveTo>
                    <a:pt x="127941" y="0"/>
                  </a:moveTo>
                  <a:lnTo>
                    <a:pt x="684859" y="0"/>
                  </a:lnTo>
                  <a:cubicBezTo>
                    <a:pt x="718791" y="0"/>
                    <a:pt x="751333" y="13479"/>
                    <a:pt x="775327" y="37473"/>
                  </a:cubicBezTo>
                  <a:cubicBezTo>
                    <a:pt x="799321" y="61467"/>
                    <a:pt x="812800" y="94009"/>
                    <a:pt x="812800" y="127941"/>
                  </a:cubicBezTo>
                  <a:lnTo>
                    <a:pt x="812800" y="769180"/>
                  </a:lnTo>
                  <a:cubicBezTo>
                    <a:pt x="812800" y="803112"/>
                    <a:pt x="799321" y="835654"/>
                    <a:pt x="775327" y="859648"/>
                  </a:cubicBezTo>
                  <a:cubicBezTo>
                    <a:pt x="751333" y="883641"/>
                    <a:pt x="718791" y="897121"/>
                    <a:pt x="684859" y="897121"/>
                  </a:cubicBezTo>
                  <a:lnTo>
                    <a:pt x="127941" y="897121"/>
                  </a:lnTo>
                  <a:cubicBezTo>
                    <a:pt x="94009" y="897121"/>
                    <a:pt x="61467" y="883641"/>
                    <a:pt x="37473" y="859648"/>
                  </a:cubicBezTo>
                  <a:cubicBezTo>
                    <a:pt x="13479" y="835654"/>
                    <a:pt x="0" y="803112"/>
                    <a:pt x="0" y="769180"/>
                  </a:cubicBezTo>
                  <a:lnTo>
                    <a:pt x="0" y="127941"/>
                  </a:lnTo>
                  <a:cubicBezTo>
                    <a:pt x="0" y="94009"/>
                    <a:pt x="13479" y="61467"/>
                    <a:pt x="37473" y="37473"/>
                  </a:cubicBezTo>
                  <a:cubicBezTo>
                    <a:pt x="61467" y="13479"/>
                    <a:pt x="94009" y="0"/>
                    <a:pt x="127941" y="0"/>
                  </a:cubicBezTo>
                  <a:close/>
                </a:path>
              </a:pathLst>
            </a:custGeom>
            <a:solidFill>
              <a:srgbClr val="172406"/>
            </a:solidFill>
          </p:spPr>
        </p:sp>
        <p:sp>
          <p:nvSpPr>
            <p:cNvPr name="TextBox 4" id="4"/>
            <p:cNvSpPr txBox="true"/>
            <p:nvPr/>
          </p:nvSpPr>
          <p:spPr>
            <a:xfrm>
              <a:off x="0" y="-38100"/>
              <a:ext cx="812800" cy="93522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42035" y="9258300"/>
            <a:ext cx="1531460" cy="871623"/>
            <a:chOff x="0" y="0"/>
            <a:chExt cx="403348" cy="229563"/>
          </a:xfrm>
        </p:grpSpPr>
        <p:sp>
          <p:nvSpPr>
            <p:cNvPr name="Freeform 6" id="6"/>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172406"/>
            </a:solidFill>
          </p:spPr>
        </p:sp>
        <p:sp>
          <p:nvSpPr>
            <p:cNvPr name="TextBox 7" id="7"/>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1220" y="9299777"/>
            <a:ext cx="675384" cy="712470"/>
          </a:xfrm>
          <a:prstGeom prst="rect">
            <a:avLst/>
          </a:prstGeom>
        </p:spPr>
        <p:txBody>
          <a:bodyPr anchor="t" rtlCol="false" tIns="0" lIns="0" bIns="0" rIns="0">
            <a:spAutoFit/>
          </a:bodyPr>
          <a:lstStyle/>
          <a:p>
            <a:pPr algn="ctr">
              <a:lnSpc>
                <a:spcPts val="5880"/>
              </a:lnSpc>
            </a:pPr>
            <a:r>
              <a:rPr lang="en-US" b="true" sz="4200">
                <a:solidFill>
                  <a:srgbClr val="FFFFFF"/>
                </a:solidFill>
                <a:latin typeface="Montserrat Bold"/>
                <a:ea typeface="Montserrat Bold"/>
                <a:cs typeface="Montserrat Bold"/>
                <a:sym typeface="Montserrat Bold"/>
              </a:rPr>
              <a:t>14</a:t>
            </a:r>
          </a:p>
        </p:txBody>
      </p:sp>
      <p:sp>
        <p:nvSpPr>
          <p:cNvPr name="Freeform 9" id="9"/>
          <p:cNvSpPr/>
          <p:nvPr/>
        </p:nvSpPr>
        <p:spPr>
          <a:xfrm flipH="false" flipV="false" rot="0">
            <a:off x="16745100" y="0"/>
            <a:ext cx="1450345" cy="1450345"/>
          </a:xfrm>
          <a:custGeom>
            <a:avLst/>
            <a:gdLst/>
            <a:ahLst/>
            <a:cxnLst/>
            <a:rect r="r" b="b" t="t" l="l"/>
            <a:pathLst>
              <a:path h="1450345" w="1450345">
                <a:moveTo>
                  <a:pt x="0" y="0"/>
                </a:moveTo>
                <a:lnTo>
                  <a:pt x="1450345" y="0"/>
                </a:lnTo>
                <a:lnTo>
                  <a:pt x="1450345" y="1450345"/>
                </a:lnTo>
                <a:lnTo>
                  <a:pt x="0" y="1450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651312" y="8243766"/>
            <a:ext cx="1450345" cy="1450345"/>
          </a:xfrm>
          <a:custGeom>
            <a:avLst/>
            <a:gdLst/>
            <a:ahLst/>
            <a:cxnLst/>
            <a:rect r="r" b="b" t="t" l="l"/>
            <a:pathLst>
              <a:path h="1450345" w="1450345">
                <a:moveTo>
                  <a:pt x="0" y="0"/>
                </a:moveTo>
                <a:lnTo>
                  <a:pt x="1450345" y="0"/>
                </a:lnTo>
                <a:lnTo>
                  <a:pt x="1450345" y="1450346"/>
                </a:lnTo>
                <a:lnTo>
                  <a:pt x="0" y="14503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899890" y="1450345"/>
            <a:ext cx="10488220" cy="6607579"/>
          </a:xfrm>
          <a:custGeom>
            <a:avLst/>
            <a:gdLst/>
            <a:ahLst/>
            <a:cxnLst/>
            <a:rect r="r" b="b" t="t" l="l"/>
            <a:pathLst>
              <a:path h="6607579" w="10488220">
                <a:moveTo>
                  <a:pt x="0" y="0"/>
                </a:moveTo>
                <a:lnTo>
                  <a:pt x="10488220" y="0"/>
                </a:lnTo>
                <a:lnTo>
                  <a:pt x="10488220" y="6607579"/>
                </a:lnTo>
                <a:lnTo>
                  <a:pt x="0" y="6607579"/>
                </a:lnTo>
                <a:lnTo>
                  <a:pt x="0" y="0"/>
                </a:lnTo>
                <a:close/>
              </a:path>
            </a:pathLst>
          </a:custGeom>
          <a:blipFill>
            <a:blip r:embed="rId4"/>
            <a:stretch>
              <a:fillRect l="0" t="0" r="0" b="0"/>
            </a:stretch>
          </a:blipFill>
        </p:spPr>
      </p:sp>
      <p:sp>
        <p:nvSpPr>
          <p:cNvPr name="TextBox 12" id="12"/>
          <p:cNvSpPr txBox="true"/>
          <p:nvPr/>
        </p:nvSpPr>
        <p:spPr>
          <a:xfrm rot="0">
            <a:off x="2847257" y="612943"/>
            <a:ext cx="12593486" cy="657225"/>
          </a:xfrm>
          <a:prstGeom prst="rect">
            <a:avLst/>
          </a:prstGeom>
        </p:spPr>
        <p:txBody>
          <a:bodyPr anchor="t" rtlCol="false" tIns="0" lIns="0" bIns="0" rIns="0">
            <a:spAutoFit/>
          </a:bodyPr>
          <a:lstStyle/>
          <a:p>
            <a:pPr algn="ctr">
              <a:lnSpc>
                <a:spcPts val="4950"/>
              </a:lnSpc>
            </a:pPr>
            <a:r>
              <a:rPr lang="en-US" b="true" sz="5000">
                <a:solidFill>
                  <a:srgbClr val="172406"/>
                </a:solidFill>
                <a:latin typeface="Montserrat Ultra-Bold"/>
                <a:ea typeface="Montserrat Ultra-Bold"/>
                <a:cs typeface="Montserrat Ultra-Bold"/>
                <a:sym typeface="Montserrat Ultra-Bold"/>
              </a:rPr>
              <a:t>TOP 10 HIGH-IMPACT HASHTAGS</a:t>
            </a:r>
          </a:p>
        </p:txBody>
      </p:sp>
      <p:sp>
        <p:nvSpPr>
          <p:cNvPr name="TextBox 13" id="13"/>
          <p:cNvSpPr txBox="true"/>
          <p:nvPr/>
        </p:nvSpPr>
        <p:spPr>
          <a:xfrm rot="0">
            <a:off x="2998452" y="8540772"/>
            <a:ext cx="12291096" cy="1396955"/>
          </a:xfrm>
          <a:prstGeom prst="rect">
            <a:avLst/>
          </a:prstGeom>
        </p:spPr>
        <p:txBody>
          <a:bodyPr anchor="t" rtlCol="false" tIns="0" lIns="0" bIns="0" rIns="0">
            <a:spAutoFit/>
          </a:bodyPr>
          <a:lstStyle/>
          <a:p>
            <a:pPr algn="just">
              <a:lnSpc>
                <a:spcPts val="2802"/>
              </a:lnSpc>
            </a:pPr>
            <a:r>
              <a:rPr lang="en-US" sz="2001">
                <a:solidFill>
                  <a:srgbClr val="172406"/>
                </a:solidFill>
                <a:latin typeface="Montserrat"/>
                <a:ea typeface="Montserrat"/>
                <a:cs typeface="Montserrat"/>
                <a:sym typeface="Montserrat"/>
              </a:rPr>
              <a:t>Gambar ini memvisualisasikan 10 tagar yang memiliki skor bobot tertinggi berdasarkan Embedding Layer. Ini adalah inti dari solusi kita: model berhasil mengidentifikasi bahwa tagar seperti #tech dan #ai memiliki pengaruh semantik paling kuat untuk menembus target 5 juta views. Ini memberikan panduan konkret bagi tim pemasar dalam memilih metadata konten.</a:t>
            </a:r>
          </a:p>
        </p:txBody>
      </p:sp>
      <p:sp>
        <p:nvSpPr>
          <p:cNvPr name="Freeform 14" id="14"/>
          <p:cNvSpPr/>
          <p:nvPr/>
        </p:nvSpPr>
        <p:spPr>
          <a:xfrm flipH="false" flipV="false" rot="0">
            <a:off x="339842" y="272045"/>
            <a:ext cx="2073285" cy="906255"/>
          </a:xfrm>
          <a:custGeom>
            <a:avLst/>
            <a:gdLst/>
            <a:ahLst/>
            <a:cxnLst/>
            <a:rect r="r" b="b" t="t" l="l"/>
            <a:pathLst>
              <a:path h="906255" w="2073285">
                <a:moveTo>
                  <a:pt x="0" y="0"/>
                </a:moveTo>
                <a:lnTo>
                  <a:pt x="2073285" y="0"/>
                </a:lnTo>
                <a:lnTo>
                  <a:pt x="2073285" y="906255"/>
                </a:lnTo>
                <a:lnTo>
                  <a:pt x="0" y="906255"/>
                </a:lnTo>
                <a:lnTo>
                  <a:pt x="0" y="0"/>
                </a:lnTo>
                <a:close/>
              </a:path>
            </a:pathLst>
          </a:custGeom>
          <a:blipFill>
            <a:blip r:embed="rId5"/>
            <a:stretch>
              <a:fillRect l="0" t="0" r="0" b="-10288"/>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833290" cy="1593725"/>
          </a:xfrm>
        </p:grpSpPr>
        <p:sp>
          <p:nvSpPr>
            <p:cNvPr name="Freeform 3" id="3"/>
            <p:cNvSpPr/>
            <p:nvPr/>
          </p:nvSpPr>
          <p:spPr>
            <a:xfrm flipH="false" flipV="false" rot="0">
              <a:off x="0" y="0"/>
              <a:ext cx="2833290" cy="1593725"/>
            </a:xfrm>
            <a:custGeom>
              <a:avLst/>
              <a:gdLst/>
              <a:ahLst/>
              <a:cxnLst/>
              <a:rect r="r" b="b" t="t" l="l"/>
              <a:pathLst>
                <a:path h="1593725" w="2833290">
                  <a:moveTo>
                    <a:pt x="0" y="0"/>
                  </a:moveTo>
                  <a:lnTo>
                    <a:pt x="2833290" y="0"/>
                  </a:lnTo>
                  <a:lnTo>
                    <a:pt x="2833290" y="1593725"/>
                  </a:lnTo>
                  <a:lnTo>
                    <a:pt x="0" y="1593725"/>
                  </a:lnTo>
                  <a:close/>
                </a:path>
              </a:pathLst>
            </a:custGeom>
            <a:blipFill>
              <a:blip r:embed="rId2">
                <a:alphaModFix amt="31000"/>
              </a:blip>
              <a:stretch>
                <a:fillRect l="0" t="-11333" r="0" b="-11333"/>
              </a:stretch>
            </a:blipFill>
          </p:spPr>
        </p:sp>
      </p:grpSp>
      <p:sp>
        <p:nvSpPr>
          <p:cNvPr name="AutoShape 4" id="4"/>
          <p:cNvSpPr/>
          <p:nvPr/>
        </p:nvSpPr>
        <p:spPr>
          <a:xfrm>
            <a:off x="3431065" y="3613845"/>
            <a:ext cx="11425870" cy="0"/>
          </a:xfrm>
          <a:prstGeom prst="line">
            <a:avLst/>
          </a:prstGeom>
          <a:ln cap="flat" w="38100">
            <a:solidFill>
              <a:srgbClr val="FFFFFF"/>
            </a:solidFill>
            <a:prstDash val="solid"/>
            <a:headEnd type="none" len="sm" w="sm"/>
            <a:tailEnd type="none" len="sm" w="sm"/>
          </a:ln>
        </p:spPr>
      </p:sp>
      <p:sp>
        <p:nvSpPr>
          <p:cNvPr name="TextBox 5" id="5"/>
          <p:cNvSpPr txBox="true"/>
          <p:nvPr/>
        </p:nvSpPr>
        <p:spPr>
          <a:xfrm rot="0">
            <a:off x="6287533" y="2107257"/>
            <a:ext cx="5712935" cy="1487539"/>
          </a:xfrm>
          <a:prstGeom prst="rect">
            <a:avLst/>
          </a:prstGeom>
        </p:spPr>
        <p:txBody>
          <a:bodyPr anchor="t" rtlCol="false" tIns="0" lIns="0" bIns="0" rIns="0">
            <a:spAutoFit/>
          </a:bodyPr>
          <a:lstStyle/>
          <a:p>
            <a:pPr algn="l" marL="0" indent="0" lvl="0">
              <a:lnSpc>
                <a:spcPts val="10996"/>
              </a:lnSpc>
              <a:spcBef>
                <a:spcPct val="0"/>
              </a:spcBef>
            </a:pPr>
            <a:r>
              <a:rPr lang="en-US" b="true" sz="10996">
                <a:solidFill>
                  <a:srgbClr val="FFFFFF"/>
                </a:solidFill>
                <a:latin typeface="Bebas Neue Bold"/>
                <a:ea typeface="Bebas Neue Bold"/>
                <a:cs typeface="Bebas Neue Bold"/>
                <a:sym typeface="Bebas Neue Bold"/>
              </a:rPr>
              <a:t>KESIMPULAN</a:t>
            </a:r>
          </a:p>
        </p:txBody>
      </p:sp>
      <p:grpSp>
        <p:nvGrpSpPr>
          <p:cNvPr name="Group 6" id="6"/>
          <p:cNvGrpSpPr/>
          <p:nvPr/>
        </p:nvGrpSpPr>
        <p:grpSpPr>
          <a:xfrm rot="0">
            <a:off x="2329302" y="3859334"/>
            <a:ext cx="13629396" cy="4856648"/>
            <a:chOff x="0" y="0"/>
            <a:chExt cx="3589635" cy="1279117"/>
          </a:xfrm>
        </p:grpSpPr>
        <p:sp>
          <p:nvSpPr>
            <p:cNvPr name="Freeform 7" id="7"/>
            <p:cNvSpPr/>
            <p:nvPr/>
          </p:nvSpPr>
          <p:spPr>
            <a:xfrm flipH="false" flipV="false" rot="0">
              <a:off x="0" y="0"/>
              <a:ext cx="3589635" cy="1279117"/>
            </a:xfrm>
            <a:custGeom>
              <a:avLst/>
              <a:gdLst/>
              <a:ahLst/>
              <a:cxnLst/>
              <a:rect r="r" b="b" t="t" l="l"/>
              <a:pathLst>
                <a:path h="1279117" w="3589635">
                  <a:moveTo>
                    <a:pt x="28970" y="0"/>
                  </a:moveTo>
                  <a:lnTo>
                    <a:pt x="3560666" y="0"/>
                  </a:lnTo>
                  <a:cubicBezTo>
                    <a:pt x="3568349" y="0"/>
                    <a:pt x="3575717" y="3052"/>
                    <a:pt x="3581150" y="8485"/>
                  </a:cubicBezTo>
                  <a:cubicBezTo>
                    <a:pt x="3586583" y="13918"/>
                    <a:pt x="3589635" y="21286"/>
                    <a:pt x="3589635" y="28970"/>
                  </a:cubicBezTo>
                  <a:lnTo>
                    <a:pt x="3589635" y="1250148"/>
                  </a:lnTo>
                  <a:cubicBezTo>
                    <a:pt x="3589635" y="1257831"/>
                    <a:pt x="3586583" y="1265199"/>
                    <a:pt x="3581150" y="1270632"/>
                  </a:cubicBezTo>
                  <a:cubicBezTo>
                    <a:pt x="3575717" y="1276065"/>
                    <a:pt x="3568349" y="1279117"/>
                    <a:pt x="3560666" y="1279117"/>
                  </a:cubicBezTo>
                  <a:lnTo>
                    <a:pt x="28970" y="1279117"/>
                  </a:lnTo>
                  <a:cubicBezTo>
                    <a:pt x="12970" y="1279117"/>
                    <a:pt x="0" y="1266147"/>
                    <a:pt x="0" y="1250148"/>
                  </a:cubicBezTo>
                  <a:lnTo>
                    <a:pt x="0" y="28970"/>
                  </a:lnTo>
                  <a:cubicBezTo>
                    <a:pt x="0" y="21286"/>
                    <a:pt x="3052" y="13918"/>
                    <a:pt x="8485" y="8485"/>
                  </a:cubicBezTo>
                  <a:cubicBezTo>
                    <a:pt x="13918" y="3052"/>
                    <a:pt x="21286" y="0"/>
                    <a:pt x="28970" y="0"/>
                  </a:cubicBezTo>
                  <a:close/>
                </a:path>
              </a:pathLst>
            </a:custGeom>
            <a:solidFill>
              <a:srgbClr val="FFFFFF"/>
            </a:solidFill>
          </p:spPr>
        </p:sp>
        <p:sp>
          <p:nvSpPr>
            <p:cNvPr name="TextBox 8" id="8"/>
            <p:cNvSpPr txBox="true"/>
            <p:nvPr/>
          </p:nvSpPr>
          <p:spPr>
            <a:xfrm>
              <a:off x="0" y="-38100"/>
              <a:ext cx="3589635" cy="131721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593571" y="773111"/>
            <a:ext cx="2996364" cy="1134120"/>
            <a:chOff x="0" y="0"/>
            <a:chExt cx="789166" cy="298698"/>
          </a:xfrm>
        </p:grpSpPr>
        <p:sp>
          <p:nvSpPr>
            <p:cNvPr name="Freeform 10" id="10"/>
            <p:cNvSpPr/>
            <p:nvPr/>
          </p:nvSpPr>
          <p:spPr>
            <a:xfrm flipH="false" flipV="false" rot="0">
              <a:off x="0" y="0"/>
              <a:ext cx="789166" cy="298698"/>
            </a:xfrm>
            <a:custGeom>
              <a:avLst/>
              <a:gdLst/>
              <a:ahLst/>
              <a:cxnLst/>
              <a:rect r="r" b="b" t="t" l="l"/>
              <a:pathLst>
                <a:path h="298698" w="789166">
                  <a:moveTo>
                    <a:pt x="131772" y="0"/>
                  </a:moveTo>
                  <a:lnTo>
                    <a:pt x="657393" y="0"/>
                  </a:lnTo>
                  <a:cubicBezTo>
                    <a:pt x="730169" y="0"/>
                    <a:pt x="789166" y="58996"/>
                    <a:pt x="789166" y="131772"/>
                  </a:cubicBezTo>
                  <a:lnTo>
                    <a:pt x="789166" y="166926"/>
                  </a:lnTo>
                  <a:cubicBezTo>
                    <a:pt x="789166" y="239702"/>
                    <a:pt x="730169" y="298698"/>
                    <a:pt x="657393" y="298698"/>
                  </a:cubicBezTo>
                  <a:lnTo>
                    <a:pt x="131772" y="298698"/>
                  </a:lnTo>
                  <a:cubicBezTo>
                    <a:pt x="96824" y="298698"/>
                    <a:pt x="63307" y="284815"/>
                    <a:pt x="38595" y="260103"/>
                  </a:cubicBezTo>
                  <a:cubicBezTo>
                    <a:pt x="13883" y="235391"/>
                    <a:pt x="0" y="201874"/>
                    <a:pt x="0" y="166926"/>
                  </a:cubicBezTo>
                  <a:lnTo>
                    <a:pt x="0" y="131772"/>
                  </a:lnTo>
                  <a:cubicBezTo>
                    <a:pt x="0" y="58996"/>
                    <a:pt x="58996" y="0"/>
                    <a:pt x="131772" y="0"/>
                  </a:cubicBezTo>
                  <a:close/>
                </a:path>
              </a:pathLst>
            </a:custGeom>
            <a:solidFill>
              <a:srgbClr val="FFFFFF"/>
            </a:solidFill>
          </p:spPr>
        </p:sp>
        <p:sp>
          <p:nvSpPr>
            <p:cNvPr name="TextBox 11" id="11"/>
            <p:cNvSpPr txBox="true"/>
            <p:nvPr/>
          </p:nvSpPr>
          <p:spPr>
            <a:xfrm>
              <a:off x="0" y="-38100"/>
              <a:ext cx="789166" cy="336798"/>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03712" y="773111"/>
            <a:ext cx="2502842" cy="1094019"/>
          </a:xfrm>
          <a:custGeom>
            <a:avLst/>
            <a:gdLst/>
            <a:ahLst/>
            <a:cxnLst/>
            <a:rect r="r" b="b" t="t" l="l"/>
            <a:pathLst>
              <a:path h="1094019" w="2502842">
                <a:moveTo>
                  <a:pt x="0" y="0"/>
                </a:moveTo>
                <a:lnTo>
                  <a:pt x="2502842" y="0"/>
                </a:lnTo>
                <a:lnTo>
                  <a:pt x="2502842" y="1094019"/>
                </a:lnTo>
                <a:lnTo>
                  <a:pt x="0" y="1094019"/>
                </a:lnTo>
                <a:lnTo>
                  <a:pt x="0" y="0"/>
                </a:lnTo>
                <a:close/>
              </a:path>
            </a:pathLst>
          </a:custGeom>
          <a:blipFill>
            <a:blip r:embed="rId3"/>
            <a:stretch>
              <a:fillRect l="0" t="0" r="0" b="-10288"/>
            </a:stretch>
          </a:blipFill>
        </p:spPr>
      </p:sp>
      <p:sp>
        <p:nvSpPr>
          <p:cNvPr name="TextBox 13" id="13"/>
          <p:cNvSpPr txBox="true"/>
          <p:nvPr/>
        </p:nvSpPr>
        <p:spPr>
          <a:xfrm rot="0">
            <a:off x="2998452" y="4300130"/>
            <a:ext cx="12291096" cy="3927430"/>
          </a:xfrm>
          <a:prstGeom prst="rect">
            <a:avLst/>
          </a:prstGeom>
        </p:spPr>
        <p:txBody>
          <a:bodyPr anchor="t" rtlCol="false" tIns="0" lIns="0" bIns="0" rIns="0">
            <a:spAutoFit/>
          </a:bodyPr>
          <a:lstStyle/>
          <a:p>
            <a:pPr algn="just">
              <a:lnSpc>
                <a:spcPts val="3502"/>
              </a:lnSpc>
            </a:pPr>
            <a:r>
              <a:rPr lang="en-US" sz="2501">
                <a:solidFill>
                  <a:srgbClr val="172406"/>
                </a:solidFill>
                <a:latin typeface="Montserrat"/>
                <a:ea typeface="Montserrat"/>
                <a:cs typeface="Montserrat"/>
                <a:sym typeface="Montserrat"/>
              </a:rPr>
              <a:t>Implementasi model Deep Learning (ANN) dan teknik Word Embedding terbukti efektif dalam memetakan hubungan semantik tagar untuk memprediksi viralitas konten di TikTok. Berdasarkan hasil eksperimen, sistem "AutoVibe Analytics" mampu memberikan peningkatan performa prediksi yang signifikan dibandingkan metode klasik, sehingga sangat andal sebagai alat pendukung keputusan strategi distribusi konten energi bersih. Melalui optimasi jangkauan ini, proyek ini berkontribusi nyata dalam mempercepat literasi masyarakat terhadap teknologi ramah lingkungan guna mendukung tercapainya target SDG Poin 7.</a:t>
            </a:r>
          </a:p>
        </p:txBody>
      </p:sp>
      <p:grpSp>
        <p:nvGrpSpPr>
          <p:cNvPr name="Group 14" id="14"/>
          <p:cNvGrpSpPr/>
          <p:nvPr/>
        </p:nvGrpSpPr>
        <p:grpSpPr>
          <a:xfrm rot="0">
            <a:off x="-502760" y="9258300"/>
            <a:ext cx="1531460" cy="871623"/>
            <a:chOff x="0" y="0"/>
            <a:chExt cx="403348" cy="229563"/>
          </a:xfrm>
        </p:grpSpPr>
        <p:sp>
          <p:nvSpPr>
            <p:cNvPr name="Freeform 15" id="15"/>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FFFFFF"/>
            </a:solidFill>
          </p:spPr>
        </p:sp>
        <p:sp>
          <p:nvSpPr>
            <p:cNvPr name="TextBox 16" id="16"/>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47378" y="9299777"/>
            <a:ext cx="675384" cy="712470"/>
          </a:xfrm>
          <a:prstGeom prst="rect">
            <a:avLst/>
          </a:prstGeom>
        </p:spPr>
        <p:txBody>
          <a:bodyPr anchor="t" rtlCol="false" tIns="0" lIns="0" bIns="0" rIns="0">
            <a:spAutoFit/>
          </a:bodyPr>
          <a:lstStyle/>
          <a:p>
            <a:pPr algn="ctr">
              <a:lnSpc>
                <a:spcPts val="5880"/>
              </a:lnSpc>
            </a:pPr>
            <a:r>
              <a:rPr lang="en-US" b="true" sz="4200">
                <a:solidFill>
                  <a:srgbClr val="000000"/>
                </a:solidFill>
                <a:latin typeface="Montserrat Bold"/>
                <a:ea typeface="Montserrat Bold"/>
                <a:cs typeface="Montserrat Bold"/>
                <a:sym typeface="Montserrat Bold"/>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grpSp>
        <p:nvGrpSpPr>
          <p:cNvPr name="Group 2" id="2"/>
          <p:cNvGrpSpPr/>
          <p:nvPr/>
        </p:nvGrpSpPr>
        <p:grpSpPr>
          <a:xfrm rot="0">
            <a:off x="0" y="5873"/>
            <a:ext cx="9386423" cy="10316121"/>
            <a:chOff x="0" y="0"/>
            <a:chExt cx="2472144" cy="2717003"/>
          </a:xfrm>
        </p:grpSpPr>
        <p:sp>
          <p:nvSpPr>
            <p:cNvPr name="Freeform 3" id="3"/>
            <p:cNvSpPr/>
            <p:nvPr/>
          </p:nvSpPr>
          <p:spPr>
            <a:xfrm flipH="false" flipV="false" rot="0">
              <a:off x="0" y="0"/>
              <a:ext cx="2472144" cy="2717003"/>
            </a:xfrm>
            <a:custGeom>
              <a:avLst/>
              <a:gdLst/>
              <a:ahLst/>
              <a:cxnLst/>
              <a:rect r="r" b="b" t="t" l="l"/>
              <a:pathLst>
                <a:path h="2717003" w="2472144">
                  <a:moveTo>
                    <a:pt x="0" y="0"/>
                  </a:moveTo>
                  <a:lnTo>
                    <a:pt x="2472144" y="0"/>
                  </a:lnTo>
                  <a:lnTo>
                    <a:pt x="2472144" y="2717003"/>
                  </a:lnTo>
                  <a:lnTo>
                    <a:pt x="0" y="2717003"/>
                  </a:lnTo>
                  <a:close/>
                </a:path>
              </a:pathLst>
            </a:custGeom>
            <a:solidFill>
              <a:srgbClr val="22211E"/>
            </a:solidFill>
          </p:spPr>
        </p:sp>
        <p:sp>
          <p:nvSpPr>
            <p:cNvPr name="TextBox 4" id="4"/>
            <p:cNvSpPr txBox="true"/>
            <p:nvPr/>
          </p:nvSpPr>
          <p:spPr>
            <a:xfrm>
              <a:off x="0" y="-38100"/>
              <a:ext cx="2472144" cy="275510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4329437" y="4559663"/>
            <a:ext cx="9212958" cy="9109312"/>
          </a:xfrm>
          <a:custGeom>
            <a:avLst/>
            <a:gdLst/>
            <a:ahLst/>
            <a:cxnLst/>
            <a:rect r="r" b="b" t="t" l="l"/>
            <a:pathLst>
              <a:path h="9109312" w="9212958">
                <a:moveTo>
                  <a:pt x="0" y="0"/>
                </a:moveTo>
                <a:lnTo>
                  <a:pt x="9212958" y="0"/>
                </a:lnTo>
                <a:lnTo>
                  <a:pt x="9212958" y="9109312"/>
                </a:lnTo>
                <a:lnTo>
                  <a:pt x="0" y="9109312"/>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5400000">
            <a:off x="4508581" y="-576860"/>
            <a:ext cx="6544563" cy="3211121"/>
          </a:xfrm>
          <a:custGeom>
            <a:avLst/>
            <a:gdLst/>
            <a:ahLst/>
            <a:cxnLst/>
            <a:rect r="r" b="b" t="t" l="l"/>
            <a:pathLst>
              <a:path h="3211121" w="6544563">
                <a:moveTo>
                  <a:pt x="0" y="0"/>
                </a:moveTo>
                <a:lnTo>
                  <a:pt x="6544563" y="0"/>
                </a:lnTo>
                <a:lnTo>
                  <a:pt x="6544563" y="3211120"/>
                </a:lnTo>
                <a:lnTo>
                  <a:pt x="0" y="3211120"/>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101516"/>
            </a:stretch>
          </a:blipFill>
          <a:ln cap="sq">
            <a:noFill/>
            <a:prstDash val="solid"/>
            <a:miter/>
          </a:ln>
        </p:spPr>
      </p:sp>
      <p:sp>
        <p:nvSpPr>
          <p:cNvPr name="TextBox 7" id="7"/>
          <p:cNvSpPr txBox="true"/>
          <p:nvPr/>
        </p:nvSpPr>
        <p:spPr>
          <a:xfrm rot="0">
            <a:off x="2113671" y="4305300"/>
            <a:ext cx="14060657" cy="1981200"/>
          </a:xfrm>
          <a:prstGeom prst="rect">
            <a:avLst/>
          </a:prstGeom>
        </p:spPr>
        <p:txBody>
          <a:bodyPr anchor="t" rtlCol="false" tIns="0" lIns="0" bIns="0" rIns="0">
            <a:spAutoFit/>
          </a:bodyPr>
          <a:lstStyle/>
          <a:p>
            <a:pPr algn="ctr">
              <a:lnSpc>
                <a:spcPts val="14850"/>
              </a:lnSpc>
            </a:pPr>
            <a:r>
              <a:rPr lang="en-US" sz="15000" b="true">
                <a:solidFill>
                  <a:srgbClr val="172406"/>
                </a:solidFill>
                <a:latin typeface="Montserrat Bold"/>
                <a:ea typeface="Montserrat Bold"/>
                <a:cs typeface="Montserrat Bold"/>
                <a:sym typeface="Montserrat Bold"/>
              </a:rPr>
              <a:t>TERIMAKASIH</a:t>
            </a:r>
          </a:p>
        </p:txBody>
      </p:sp>
      <p:grpSp>
        <p:nvGrpSpPr>
          <p:cNvPr name="Group 8" id="8"/>
          <p:cNvGrpSpPr/>
          <p:nvPr/>
        </p:nvGrpSpPr>
        <p:grpSpPr>
          <a:xfrm rot="0">
            <a:off x="-521810" y="9114319"/>
            <a:ext cx="1531460" cy="871623"/>
            <a:chOff x="0" y="0"/>
            <a:chExt cx="403348" cy="229563"/>
          </a:xfrm>
        </p:grpSpPr>
        <p:sp>
          <p:nvSpPr>
            <p:cNvPr name="Freeform 9" id="9"/>
            <p:cNvSpPr/>
            <p:nvPr/>
          </p:nvSpPr>
          <p:spPr>
            <a:xfrm flipH="false" flipV="false" rot="0">
              <a:off x="0" y="0"/>
              <a:ext cx="403348" cy="229563"/>
            </a:xfrm>
            <a:custGeom>
              <a:avLst/>
              <a:gdLst/>
              <a:ahLst/>
              <a:cxnLst/>
              <a:rect r="r" b="b" t="t" l="l"/>
              <a:pathLst>
                <a:path h="229563" w="403348">
                  <a:moveTo>
                    <a:pt x="114782" y="0"/>
                  </a:moveTo>
                  <a:lnTo>
                    <a:pt x="288566" y="0"/>
                  </a:lnTo>
                  <a:cubicBezTo>
                    <a:pt x="319008" y="0"/>
                    <a:pt x="348203" y="12093"/>
                    <a:pt x="369729" y="33619"/>
                  </a:cubicBezTo>
                  <a:cubicBezTo>
                    <a:pt x="391255" y="55145"/>
                    <a:pt x="403348" y="84340"/>
                    <a:pt x="403348" y="114782"/>
                  </a:cubicBezTo>
                  <a:lnTo>
                    <a:pt x="403348" y="114782"/>
                  </a:lnTo>
                  <a:cubicBezTo>
                    <a:pt x="403348" y="178174"/>
                    <a:pt x="351958" y="229563"/>
                    <a:pt x="288566" y="229563"/>
                  </a:cubicBezTo>
                  <a:lnTo>
                    <a:pt x="114782" y="229563"/>
                  </a:lnTo>
                  <a:cubicBezTo>
                    <a:pt x="84340" y="229563"/>
                    <a:pt x="55145" y="217470"/>
                    <a:pt x="33619" y="195945"/>
                  </a:cubicBezTo>
                  <a:cubicBezTo>
                    <a:pt x="12093" y="174419"/>
                    <a:pt x="0" y="145224"/>
                    <a:pt x="0" y="114782"/>
                  </a:cubicBezTo>
                  <a:lnTo>
                    <a:pt x="0" y="114782"/>
                  </a:lnTo>
                  <a:cubicBezTo>
                    <a:pt x="0" y="84340"/>
                    <a:pt x="12093" y="55145"/>
                    <a:pt x="33619" y="33619"/>
                  </a:cubicBezTo>
                  <a:cubicBezTo>
                    <a:pt x="55145" y="12093"/>
                    <a:pt x="84340" y="0"/>
                    <a:pt x="114782" y="0"/>
                  </a:cubicBezTo>
                  <a:close/>
                </a:path>
              </a:pathLst>
            </a:custGeom>
            <a:solidFill>
              <a:srgbClr val="FFFFFF"/>
            </a:solidFill>
          </p:spPr>
        </p:sp>
        <p:sp>
          <p:nvSpPr>
            <p:cNvPr name="TextBox 10" id="10"/>
            <p:cNvSpPr txBox="true"/>
            <p:nvPr/>
          </p:nvSpPr>
          <p:spPr>
            <a:xfrm>
              <a:off x="0" y="-38100"/>
              <a:ext cx="403348" cy="26766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62742" y="9155796"/>
            <a:ext cx="675384" cy="712470"/>
          </a:xfrm>
          <a:prstGeom prst="rect">
            <a:avLst/>
          </a:prstGeom>
        </p:spPr>
        <p:txBody>
          <a:bodyPr anchor="t" rtlCol="false" tIns="0" lIns="0" bIns="0" rIns="0">
            <a:spAutoFit/>
          </a:bodyPr>
          <a:lstStyle/>
          <a:p>
            <a:pPr algn="ctr">
              <a:lnSpc>
                <a:spcPts val="5880"/>
              </a:lnSpc>
            </a:pPr>
            <a:r>
              <a:rPr lang="en-US" b="true" sz="4200">
                <a:solidFill>
                  <a:srgbClr val="000000"/>
                </a:solidFill>
                <a:latin typeface="Montserrat Bold"/>
                <a:ea typeface="Montserrat Bold"/>
                <a:cs typeface="Montserrat Bold"/>
                <a:sym typeface="Montserrat Bold"/>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DAG_tZvxTmg</dc:identifier>
  <dcterms:modified xsi:type="dcterms:W3CDTF">2011-08-01T06:04:30Z</dcterms:modified>
  <cp:revision>1</cp:revision>
  <dc:title>UAS DEEP LEARNING_4</dc:title>
</cp:coreProperties>
</file>